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harts/chart1.xml" ContentType="application/vnd.openxmlformats-officedocument.drawingml.chart+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9144000" cy="5143500" type="screen16x9"/>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E0E1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11"/>
    <p:restoredTop sz="94660" autoAdjust="0"/>
  </p:normalViewPr>
  <p:slideViewPr>
    <p:cSldViewPr snapToGrid="0" snapToObjects="1">
      <p:cViewPr varScale="1">
        <p:scale>
          <a:sx n="111" d="100"/>
          <a:sy n="111" d="100"/>
        </p:scale>
        <p:origin x="634"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2291F"/>
                </a:solidFill>
                <a:latin typeface="Calibri"/>
              </a:defRPr>
            </a:pPr>
            <a:r>
              <a:rPr lang="en-IN" sz="1300" b="0" i="0" u="none" strike="noStrike" dirty="0">
                <a:solidFill>
                  <a:srgbClr val="12291F"/>
                </a:solidFill>
                <a:latin typeface="Calibri"/>
              </a:rPr>
              <a:t>Verdict summary (4 claims)</a:t>
            </a:r>
          </a:p>
        </c:rich>
      </c:tx>
      <c:overlay val="0"/>
    </c:title>
    <c:autoTitleDeleted val="0"/>
    <c:plotArea>
      <c:layout/>
      <c:barChart>
        <c:barDir val="col"/>
        <c:grouping val="clustered"/>
        <c:varyColors val="0"/>
        <c:ser>
          <c:idx val="0"/>
          <c:order val="0"/>
          <c:tx>
            <c:strRef>
              <c:f>Sheet1!$B$1</c:f>
              <c:strCache>
                <c:ptCount val="1"/>
                <c:pt idx="0">
                  <c:v>Claims</c:v>
                </c:pt>
              </c:strCache>
            </c:strRef>
          </c:tx>
          <c:spPr>
            <a:solidFill>
              <a:srgbClr val="1E5A40"/>
            </a:solidFill>
            <a:effectLst/>
          </c:spPr>
          <c:invertIfNegative val="0"/>
          <c:dLbls>
            <c:numFmt formatCode="#,##0" sourceLinked="0"/>
            <c:spPr>
              <a:noFill/>
              <a:ln>
                <a:noFill/>
              </a:ln>
              <a:effectLst/>
            </c:spPr>
            <c:txPr>
              <a:bodyPr/>
              <a:lstStyle/>
              <a:p>
                <a:pPr>
                  <a:defRPr sz="1200" b="0" i="0" u="none" strike="noStrike">
                    <a:solidFill>
                      <a:srgbClr val="12291F"/>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Supported</c:v>
                </c:pt>
                <c:pt idx="1">
                  <c:v>Refuted</c:v>
                </c:pt>
                <c:pt idx="2">
                  <c:v>Unresolved</c:v>
                </c:pt>
              </c:strCache>
            </c:strRef>
          </c:cat>
          <c:val>
            <c:numRef>
              <c:f>Sheet1!$B$2:$B$4</c:f>
              <c:numCache>
                <c:formatCode>General</c:formatCode>
                <c:ptCount val="3"/>
                <c:pt idx="0">
                  <c:v>2</c:v>
                </c:pt>
                <c:pt idx="1">
                  <c:v>1</c:v>
                </c:pt>
                <c:pt idx="2">
                  <c:v>1</c:v>
                </c:pt>
              </c:numCache>
            </c:numRef>
          </c:val>
          <c:extLst>
            <c:ext xmlns:c16="http://schemas.microsoft.com/office/drawing/2014/chart" uri="{C3380CC4-5D6E-409C-BE32-E72D297353CC}">
              <c16:uniqueId val="{00000000-0F2D-434F-8372-94A8A718C367}"/>
            </c:ext>
          </c:extLst>
        </c:ser>
        <c:dLbls>
          <c:showLegendKey val="0"/>
          <c:showVal val="1"/>
          <c:showCatName val="0"/>
          <c:showSerName val="0"/>
          <c:showPercent val="0"/>
          <c:showBubbleSize val="0"/>
        </c:dLbls>
        <c:gapWidth val="60"/>
        <c:axId val="287833144"/>
        <c:axId val="288169152"/>
      </c:barChart>
      <c:catAx>
        <c:axId val="28783314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100" b="0" i="0" u="none" strike="noStrike">
                <a:solidFill>
                  <a:srgbClr val="12291F"/>
                </a:solidFill>
                <a:latin typeface="Calibri"/>
              </a:defRPr>
            </a:pPr>
            <a:endParaRPr lang="en-US"/>
          </a:p>
        </c:txPr>
        <c:crossAx val="288169152"/>
        <c:crosses val="autoZero"/>
        <c:auto val="1"/>
        <c:lblAlgn val="ctr"/>
        <c:lblOffset val="100"/>
        <c:noMultiLvlLbl val="1"/>
      </c:catAx>
      <c:valAx>
        <c:axId val="288169152"/>
        <c:scaling>
          <c:orientation val="minMax"/>
          <c:max val="3"/>
        </c:scaling>
        <c:delete val="0"/>
        <c:axPos val="l"/>
        <c:majorGridlines>
          <c:spPr>
            <a:ln w="9525" cap="flat">
              <a:solidFill>
                <a:srgbClr val="DADDD6"/>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000" b="0" i="0" u="none" strike="noStrike">
                <a:solidFill>
                  <a:srgbClr val="5C6B62"/>
                </a:solidFill>
                <a:latin typeface="Calibri"/>
              </a:defRPr>
            </a:pPr>
            <a:endParaRPr lang="en-US"/>
          </a:p>
        </c:txPr>
        <c:crossAx val="287833144"/>
        <c:crosses val="autoZero"/>
        <c:crossBetween val="between"/>
        <c:majorUnit val="1"/>
      </c:valAx>
      <c:spPr>
        <a:noFill/>
        <a:ln>
          <a:noFill/>
        </a:ln>
        <a:effectLst/>
      </c:spPr>
    </c:plotArea>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9258075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Opening slide. </a:t>
            </a:r>
            <a:r>
              <a:rPr dirty="0" err="1"/>
              <a:t>ClaimAI</a:t>
            </a:r>
            <a:r>
              <a:rPr dirty="0"/>
              <a:t> checks AI-written text claim by claim instead of giving one true/false label. Introduce the team (</a:t>
            </a:r>
            <a:r>
              <a:rPr dirty="0" err="1"/>
              <a:t>FactFinder</a:t>
            </a:r>
            <a:r>
              <a:rPr dirty="0"/>
              <a:t>, USICT) and the one-line idea: one answer contains many claims, and each claim gets its own verdict (supported, refuted or unresolved) with evidence behind it.</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problem: LLM answers sound confident, but one paragraph usually mixes true statements with weak or wrong ones. In the example, the first two claims are correct and the 500 m height is wrong (the tower is roughly 330 m). A single "mostly true" label hides this, so the reader cannot tell what to correct and must re-check everything. The solution: split the answer into claims and verify each one separately.</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Traditional checking gives one label for the whole answer. </a:t>
            </a:r>
            <a:r>
              <a:rPr dirty="0" err="1"/>
              <a:t>ClaimAI</a:t>
            </a:r>
            <a:r>
              <a:rPr dirty="0"/>
              <a:t> reverses this: each statement is evaluated on its own and the verdict is attached to it. Three outcomes exist. Supported: reliable sources agree. Refuted: sources directly contradict the claim. Unresolved: evidence conflicts or is not enough even after retries; the system deliberately does not force a guess.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End-to-end flow. 1) Submit: the user enters a question and answer, or any text. 2) Extract: the text becomes standalone, atomic claims. 3) Verify: every claim gets its own web search and evidence review. 4) Report: everything is assembled into a claim-by-claim report. Because each stage is a separate module, a reviewer can inspect the output of any stage, which is what makes the system explainable.</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browser interface is built with Next.js and React. It talks to a Python agent layer orchestrated by LangGraph. The three agents run in sequence: Claim Extractor, Claim Verifier, Fact Checker. OpenAI models provide language understanding and reasoning inside the extractor and verifier, and Tavily Search supplies live web evidence to the verifier. Setup uses pnpm and Turborepo for the monorepo and Poetry for the Python packages. API keys needed: OpenAI and Tavily.</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extractor follows the Claimify methodology. Split: the text is broken into sentences with context kept. Select: sentences without a verifiable fact, such as opinions, are removed. Disambiguate: pronouns and vague references are resolved, so "she" becomes "Marie Curie"; when a sentence is ambiguous, several LLM votes decide whether it can be fixed or should be dropped (the voting is an extra added by this project). Decompose: each sentence becomes one or more self-contained atomic claims.</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The verifier takes one claim at a time. An LLM writes search queries, Tavily returns web results, and the LLM judges how the evidence relates to the claim. Using search results to check individual claims is inspired by SAFE (Wei et al., 2024). If the first attempt is ambiguous, a multi-retry loop searches again with new queries before giving up. If the evidence is still conflicting or too thin, the claim is reported as Unresolved. The number of search results and retry attempts are configurable.</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The Fact Checker is the orchestrator. It calls the extractor, sends every claim to the verifier, and assembles one report. The table and graph are illustrative sample data, not real benchmark results: four claims, of which two are supported, one is refuted and one is unresolved. The graph gives the overall picture at a glance, while the table shows exactly which statement needs attention.</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A generic chatbot returns an answer but no structured evidence path, and uncertainty can hide in confident wording. A basic search engine returns sources, but the user must read and interpret them. </a:t>
            </a:r>
            <a:r>
              <a:rPr dirty="0" err="1"/>
              <a:t>ClaimAI</a:t>
            </a:r>
            <a:r>
              <a:rPr dirty="0"/>
              <a:t> sits between the two: claim-level verdicts with the evidence linked to each claim. The four boxes explain why it matters: claim-level results, explainable separate stages, honest unresolved outcomes, and practical controls (voting and multi-retry).</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Run it locally: install the tools, add the OpenAI and </a:t>
            </a:r>
            <a:r>
              <a:rPr dirty="0" err="1"/>
              <a:t>Tavily</a:t>
            </a:r>
            <a:r>
              <a:rPr dirty="0"/>
              <a:t> keys to .env, run </a:t>
            </a:r>
            <a:r>
              <a:rPr dirty="0" err="1"/>
              <a:t>pnpm</a:t>
            </a:r>
            <a:r>
              <a:rPr dirty="0"/>
              <a:t> </a:t>
            </a:r>
            <a:r>
              <a:rPr dirty="0" err="1"/>
              <a:t>setup:dev</a:t>
            </a:r>
            <a:r>
              <a:rPr dirty="0"/>
              <a:t>, then </a:t>
            </a:r>
            <a:r>
              <a:rPr dirty="0" err="1"/>
              <a:t>pnpm</a:t>
            </a:r>
            <a:r>
              <a:rPr dirty="0"/>
              <a:t> dev and open localhost:3000. Roadmap: Now, a working local full-stack demo. Next, an evaluation agent that measures how accurate and reliable the fact checking itself is. Later, a public API so other applications can use </a:t>
            </a:r>
            <a:r>
              <a:rPr dirty="0" err="1"/>
              <a:t>ClaimAI</a:t>
            </a:r>
            <a:r>
              <a:rPr dirty="0"/>
              <a:t> without running it locally. Close by crediting the research (</a:t>
            </a:r>
            <a:r>
              <a:rPr dirty="0" err="1"/>
              <a:t>Claimify</a:t>
            </a:r>
            <a:r>
              <a:rPr dirty="0"/>
              <a:t> and SAFE).</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3159" y="514350"/>
            <a:ext cx="6000750" cy="2228851"/>
          </a:xfrm>
        </p:spPr>
        <p:txBody>
          <a:bodyPr anchor="b">
            <a:normAutofit/>
          </a:bodyPr>
          <a:lstStyle>
            <a:lvl1pPr algn="l">
              <a:defRPr sz="3600">
                <a:effectLst/>
              </a:defRPr>
            </a:lvl1pPr>
          </a:lstStyle>
          <a:p>
            <a:r>
              <a:rPr lang="en-US"/>
              <a:t>Click to edit Master title style</a:t>
            </a:r>
            <a:endParaRPr lang="en-US" dirty="0"/>
          </a:p>
        </p:txBody>
      </p:sp>
      <p:sp>
        <p:nvSpPr>
          <p:cNvPr id="3" name="Subtitle 2"/>
          <p:cNvSpPr>
            <a:spLocks noGrp="1"/>
          </p:cNvSpPr>
          <p:nvPr>
            <p:ph type="subTitle" idx="1"/>
          </p:nvPr>
        </p:nvSpPr>
        <p:spPr>
          <a:xfrm>
            <a:off x="513159" y="2882900"/>
            <a:ext cx="4800600" cy="1460500"/>
          </a:xfrm>
        </p:spPr>
        <p:txBody>
          <a:bodyPr anchor="t">
            <a:normAutofit/>
          </a:bodyPr>
          <a:lstStyle>
            <a:lvl1pPr marL="0" indent="0" algn="l">
              <a:buNone/>
              <a:defRPr sz="1575">
                <a:solidFill>
                  <a:schemeClr val="bg2">
                    <a:lumMod val="75000"/>
                  </a:schemeClr>
                </a:solidFill>
              </a:defRPr>
            </a:lvl1pPr>
            <a:lvl2pPr marL="342900" indent="0" algn="ctr">
              <a:buNone/>
              <a:defRPr>
                <a:solidFill>
                  <a:schemeClr val="tx1">
                    <a:tint val="75000"/>
                  </a:schemeClr>
                </a:solidFill>
              </a:defRPr>
            </a:lvl2pPr>
            <a:lvl3pPr marL="685800" indent="0" algn="ctr">
              <a:buNone/>
              <a:defRPr>
                <a:solidFill>
                  <a:schemeClr val="tx1">
                    <a:tint val="75000"/>
                  </a:schemeClr>
                </a:solidFill>
              </a:defRPr>
            </a:lvl3pPr>
            <a:lvl4pPr marL="1028700" indent="0" algn="ctr">
              <a:buNone/>
              <a:defRPr>
                <a:solidFill>
                  <a:schemeClr val="tx1">
                    <a:tint val="75000"/>
                  </a:schemeClr>
                </a:solidFill>
              </a:defRPr>
            </a:lvl4pPr>
            <a:lvl5pPr marL="1371600" indent="0" algn="ctr">
              <a:buNone/>
              <a:defRPr>
                <a:solidFill>
                  <a:schemeClr val="tx1">
                    <a:tint val="75000"/>
                  </a:schemeClr>
                </a:solidFill>
              </a:defRPr>
            </a:lvl5pPr>
            <a:lvl6pPr marL="1714500" indent="0" algn="ctr">
              <a:buNone/>
              <a:defRPr>
                <a:solidFill>
                  <a:schemeClr val="tx1">
                    <a:tint val="75000"/>
                  </a:schemeClr>
                </a:solidFill>
              </a:defRPr>
            </a:lvl6pPr>
            <a:lvl7pPr marL="2057400" indent="0" algn="ctr">
              <a:buNone/>
              <a:defRPr>
                <a:solidFill>
                  <a:schemeClr val="tx1">
                    <a:tint val="75000"/>
                  </a:schemeClr>
                </a:solidFill>
              </a:defRPr>
            </a:lvl7pPr>
            <a:lvl8pPr marL="2400300" indent="0" algn="ctr">
              <a:buNone/>
              <a:defRPr>
                <a:solidFill>
                  <a:schemeClr val="tx1">
                    <a:tint val="75000"/>
                  </a:schemeClr>
                </a:solidFill>
              </a:defRPr>
            </a:lvl8pPr>
            <a:lvl9pPr marL="27432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cxnSp>
        <p:nvCxnSpPr>
          <p:cNvPr id="16" name="Straight Connector 15"/>
          <p:cNvCxnSpPr/>
          <p:nvPr/>
        </p:nvCxnSpPr>
        <p:spPr>
          <a:xfrm flipH="1">
            <a:off x="6171009" y="6350"/>
            <a:ext cx="2857500" cy="285750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7" name="Straight Connector 16"/>
          <p:cNvCxnSpPr/>
          <p:nvPr/>
        </p:nvCxnSpPr>
        <p:spPr>
          <a:xfrm flipH="1">
            <a:off x="4581128" y="68659"/>
            <a:ext cx="4560491" cy="4560491"/>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9" name="Straight Connector 18"/>
          <p:cNvCxnSpPr/>
          <p:nvPr/>
        </p:nvCxnSpPr>
        <p:spPr>
          <a:xfrm flipH="1">
            <a:off x="5426869" y="171450"/>
            <a:ext cx="3714750" cy="3714750"/>
          </a:xfrm>
          <a:prstGeom prst="line">
            <a:avLst/>
          </a:prstGeom>
          <a:ln w="1270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1" name="Straight Connector 20"/>
          <p:cNvCxnSpPr/>
          <p:nvPr/>
        </p:nvCxnSpPr>
        <p:spPr>
          <a:xfrm flipH="1">
            <a:off x="5501878" y="24209"/>
            <a:ext cx="3639742" cy="3639742"/>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cxnSp>
        <p:nvCxnSpPr>
          <p:cNvPr id="23" name="Straight Connector 22"/>
          <p:cNvCxnSpPr/>
          <p:nvPr/>
        </p:nvCxnSpPr>
        <p:spPr>
          <a:xfrm flipH="1">
            <a:off x="5884070" y="457201"/>
            <a:ext cx="3257549" cy="3257549"/>
          </a:xfrm>
          <a:prstGeom prst="line">
            <a:avLst/>
          </a:prstGeom>
          <a:ln w="31750">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521536931"/>
      </p:ext>
    </p:extLst>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258391857"/>
      </p:ext>
    </p:extLst>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13159" y="1504950"/>
            <a:ext cx="6400801" cy="1711200"/>
          </a:xfrm>
        </p:spPr>
        <p:txBody>
          <a:bodyPr anchor="b">
            <a:normAutofit/>
          </a:bodyPr>
          <a:lstStyle>
            <a:lvl1pPr algn="l">
              <a:defRPr sz="2700" b="0" cap="all"/>
            </a:lvl1pPr>
          </a:lstStyle>
          <a:p>
            <a:r>
              <a:rPr lang="en-US"/>
              <a:t>Click to edit Master title style</a:t>
            </a:r>
            <a:endParaRPr lang="en-US" dirty="0"/>
          </a:p>
        </p:txBody>
      </p:sp>
      <p:sp>
        <p:nvSpPr>
          <p:cNvPr id="3" name="Text Placeholder 2"/>
          <p:cNvSpPr>
            <a:spLocks noGrp="1"/>
          </p:cNvSpPr>
          <p:nvPr>
            <p:ph type="body" idx="1"/>
          </p:nvPr>
        </p:nvSpPr>
        <p:spPr>
          <a:xfrm>
            <a:off x="513160" y="3371850"/>
            <a:ext cx="6400800" cy="11239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208143185"/>
      </p:ext>
    </p:extLst>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513159" y="514351"/>
            <a:ext cx="3703241"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356100" y="514351"/>
            <a:ext cx="3700859" cy="2711450"/>
          </a:xfrm>
        </p:spPr>
        <p:txBody>
          <a:bodyP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449935914"/>
      </p:ext>
    </p:extLst>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729061" y="514350"/>
            <a:ext cx="3487340"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513159" y="952897"/>
            <a:ext cx="370324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559299" y="514350"/>
            <a:ext cx="3498851" cy="432197"/>
          </a:xfrm>
        </p:spPr>
        <p:txBody>
          <a:bodyPr anchor="b">
            <a:noAutofit/>
          </a:bodyPr>
          <a:lstStyle>
            <a:lvl1pPr marL="0" indent="0">
              <a:buNone/>
              <a:defRPr sz="2100" b="0">
                <a:solidFill>
                  <a:schemeClr val="tx1"/>
                </a:solidFill>
              </a:defRPr>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4354909" y="946546"/>
            <a:ext cx="3696891" cy="2272904"/>
          </a:xfrm>
        </p:spPr>
        <p:txBody>
          <a:bodyPr anchor="t">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732354879"/>
      </p:ext>
    </p:extLst>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03958879"/>
      </p:ext>
    </p:extLst>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46709907"/>
      </p:ext>
    </p:extLst>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313759" y="514350"/>
            <a:ext cx="2743200" cy="1028700"/>
          </a:xfrm>
        </p:spPr>
        <p:txBody>
          <a:bodyPr anchor="b">
            <a:normAutofit/>
          </a:bodyPr>
          <a:lstStyle>
            <a:lvl1pPr algn="l">
              <a:defRPr sz="1800" b="0"/>
            </a:lvl1pPr>
          </a:lstStyle>
          <a:p>
            <a:r>
              <a:rPr lang="en-US"/>
              <a:t>Click to edit Master title style</a:t>
            </a:r>
            <a:endParaRPr lang="en-US" dirty="0"/>
          </a:p>
        </p:txBody>
      </p:sp>
      <p:sp>
        <p:nvSpPr>
          <p:cNvPr id="3" name="Content Placeholder 2"/>
          <p:cNvSpPr>
            <a:spLocks noGrp="1"/>
          </p:cNvSpPr>
          <p:nvPr>
            <p:ph idx="1"/>
          </p:nvPr>
        </p:nvSpPr>
        <p:spPr>
          <a:xfrm>
            <a:off x="513159" y="514350"/>
            <a:ext cx="4457701" cy="3981450"/>
          </a:xfrm>
        </p:spPr>
        <p:txBody>
          <a:bodyPr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5313759" y="1657350"/>
            <a:ext cx="2743200" cy="1568450"/>
          </a:xfrm>
        </p:spPr>
        <p:txBody>
          <a:bodyPr anchor="t">
            <a:normAutofit/>
          </a:bodyPr>
          <a:lstStyle>
            <a:lvl1pPr marL="0" indent="0">
              <a:buNone/>
              <a:defRPr sz="120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797779712"/>
      </p:ext>
    </p:extLst>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542109" y="1085850"/>
            <a:ext cx="4514850" cy="857250"/>
          </a:xfrm>
        </p:spPr>
        <p:txBody>
          <a:bodyPr anchor="b">
            <a:normAutofit/>
          </a:bodyPr>
          <a:lstStyle>
            <a:lvl1pPr algn="l">
              <a:defRPr sz="21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741759" y="685800"/>
            <a:ext cx="2460731" cy="342900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4" name="Text Placeholder 3"/>
          <p:cNvSpPr>
            <a:spLocks noGrp="1"/>
          </p:cNvSpPr>
          <p:nvPr>
            <p:ph type="body" sz="half" idx="2"/>
          </p:nvPr>
        </p:nvSpPr>
        <p:spPr>
          <a:xfrm>
            <a:off x="3542109" y="2082800"/>
            <a:ext cx="4516041" cy="1536700"/>
          </a:xfrm>
        </p:spPr>
        <p:txBody>
          <a:bodyPr anchor="t">
            <a:normAutofit/>
          </a:bodyPr>
          <a:lstStyle>
            <a:lvl1pPr marL="0" indent="0">
              <a:buNone/>
              <a:defRPr sz="1350"/>
            </a:lvl1pPr>
            <a:lvl2pPr marL="342900" indent="0">
              <a:buNone/>
              <a:defRPr sz="900"/>
            </a:lvl2pPr>
            <a:lvl3pPr marL="685800" indent="0">
              <a:buNone/>
              <a:defRPr sz="750"/>
            </a:lvl3pPr>
            <a:lvl4pPr marL="1028700" indent="0">
              <a:buNone/>
              <a:defRPr sz="675"/>
            </a:lvl4pPr>
            <a:lvl5pPr marL="1371600" indent="0">
              <a:buNone/>
              <a:defRPr sz="675"/>
            </a:lvl5pPr>
            <a:lvl6pPr marL="1714500" indent="0">
              <a:buNone/>
              <a:defRPr sz="675"/>
            </a:lvl6pPr>
            <a:lvl7pPr marL="2057400" indent="0">
              <a:buNone/>
              <a:defRPr sz="675"/>
            </a:lvl7pPr>
            <a:lvl8pPr marL="2400300" indent="0">
              <a:buNone/>
              <a:defRPr sz="675"/>
            </a:lvl8pPr>
            <a:lvl9pPr marL="2743200" indent="0">
              <a:buNone/>
              <a:defRPr sz="675"/>
            </a:lvl9pPr>
          </a:lstStyle>
          <a:p>
            <a:pPr lvl="0"/>
            <a:r>
              <a:rPr lang="en-US"/>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616410700"/>
      </p:ext>
    </p:extLst>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17" name="Picture Placeholder 2"/>
          <p:cNvSpPr>
            <a:spLocks noGrp="1" noChangeAspect="1"/>
          </p:cNvSpPr>
          <p:nvPr>
            <p:ph type="pic" idx="13"/>
          </p:nvPr>
        </p:nvSpPr>
        <p:spPr>
          <a:xfrm>
            <a:off x="514350" y="400050"/>
            <a:ext cx="8114109" cy="2343150"/>
          </a:xfrm>
          <a:prstGeom prst="snip2DiagRect">
            <a:avLst>
              <a:gd name="adj1" fmla="val 10815"/>
              <a:gd name="adj2" fmla="val 0"/>
            </a:avLst>
          </a:prstGeom>
          <a:ln w="15875">
            <a:solidFill>
              <a:schemeClr val="tx1">
                <a:alpha val="40000"/>
              </a:schemeClr>
            </a:solidFill>
          </a:ln>
          <a:effectLst>
            <a:innerShdw blurRad="57150" dist="38100" dir="14460000">
              <a:srgbClr val="000000">
                <a:alpha val="70000"/>
              </a:srgbClr>
            </a:innerShdw>
          </a:effectLst>
        </p:spPr>
        <p:txBody>
          <a:bodyPr anchor="t">
            <a:normAutofit/>
          </a:bodyPr>
          <a:lstStyle>
            <a:lvl1pPr marL="0" indent="0" algn="ctr">
              <a:buNone/>
              <a:defRPr sz="1200"/>
            </a:lvl1pPr>
            <a:lvl2pPr marL="342900" indent="0">
              <a:buNone/>
              <a:defRPr sz="1200"/>
            </a:lvl2pPr>
            <a:lvl3pPr marL="685800" indent="0">
              <a:buNone/>
              <a:defRPr sz="1200"/>
            </a:lvl3pPr>
            <a:lvl4pPr marL="1028700" indent="0">
              <a:buNone/>
              <a:defRPr sz="1200"/>
            </a:lvl4pPr>
            <a:lvl5pPr marL="1371600" indent="0">
              <a:buNone/>
              <a:defRPr sz="1200"/>
            </a:lvl5pPr>
            <a:lvl6pPr marL="1714500" indent="0">
              <a:buNone/>
              <a:defRPr sz="1200"/>
            </a:lvl6pPr>
            <a:lvl7pPr marL="2057400" indent="0">
              <a:buNone/>
              <a:defRPr sz="1200"/>
            </a:lvl7pPr>
            <a:lvl8pPr marL="2400300" indent="0">
              <a:buNone/>
              <a:defRPr sz="1200"/>
            </a:lvl8pPr>
            <a:lvl9pPr marL="2743200" indent="0">
              <a:buNone/>
              <a:defRPr sz="1200"/>
            </a:lvl9pPr>
          </a:lstStyle>
          <a:p>
            <a:r>
              <a:rPr lang="en-US"/>
              <a:t>Click icon to add picture</a:t>
            </a:r>
            <a:endParaRPr lang="en-US" dirty="0"/>
          </a:p>
        </p:txBody>
      </p:sp>
      <p:sp>
        <p:nvSpPr>
          <p:cNvPr id="16" name="Text Placeholder 9"/>
          <p:cNvSpPr>
            <a:spLocks noGrp="1"/>
          </p:cNvSpPr>
          <p:nvPr>
            <p:ph type="body" sz="quarter" idx="14"/>
          </p:nvPr>
        </p:nvSpPr>
        <p:spPr>
          <a:xfrm>
            <a:off x="685801" y="2882900"/>
            <a:ext cx="6228158" cy="342900"/>
          </a:xfrm>
        </p:spPr>
        <p:txBody>
          <a:bodyPr anchor="t">
            <a:normAutofit/>
          </a:bodyPr>
          <a:lstStyle>
            <a:lvl1pPr marL="0" indent="0">
              <a:buFontTx/>
              <a:buNone/>
              <a:defRPr sz="1200"/>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Date Placeholder 2"/>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06297857"/>
      </p:ext>
    </p:extLst>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anchor="ctr">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9" y="3086100"/>
            <a:ext cx="6401991" cy="1409700"/>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239882575"/>
      </p:ext>
    </p:extLst>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56059" y="514350"/>
            <a:ext cx="6858001"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084659" y="2571750"/>
            <a:ext cx="6400800" cy="285750"/>
          </a:xfrm>
        </p:spPr>
        <p:txBody>
          <a:bodyPr anchor="ctr"/>
          <a:lstStyle>
            <a:lvl1pPr marL="0" indent="0">
              <a:buFontTx/>
              <a:buNone/>
              <a:defRPr/>
            </a:lvl1pPr>
            <a:lvl2pPr marL="342900" indent="0">
              <a:buFontTx/>
              <a:buNone/>
              <a:defRPr/>
            </a:lvl2pPr>
            <a:lvl3pPr marL="685800" indent="0">
              <a:buFontTx/>
              <a:buNone/>
              <a:defRPr/>
            </a:lvl3pPr>
            <a:lvl4pPr marL="1028700" indent="0">
              <a:buFontTx/>
              <a:buNone/>
              <a:defRPr/>
            </a:lvl4pPr>
            <a:lvl5pPr marL="1371600" indent="0">
              <a:buFontTx/>
              <a:buNone/>
              <a:defRPr/>
            </a:lvl5pPr>
          </a:lstStyle>
          <a:p>
            <a:pPr lvl="0"/>
            <a:r>
              <a:rPr lang="en-US"/>
              <a:t>Click to edit Master text styles</a:t>
            </a:r>
          </a:p>
        </p:txBody>
      </p:sp>
      <p:sp>
        <p:nvSpPr>
          <p:cNvPr id="3" name="Text Placeholder 2"/>
          <p:cNvSpPr>
            <a:spLocks noGrp="1"/>
          </p:cNvSpPr>
          <p:nvPr>
            <p:ph type="body" idx="1"/>
          </p:nvPr>
        </p:nvSpPr>
        <p:spPr>
          <a:xfrm>
            <a:off x="513160" y="3225801"/>
            <a:ext cx="6400800" cy="1263649"/>
          </a:xfrm>
        </p:spPr>
        <p:txBody>
          <a:bodyPr anchor="ctr">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4" name="TextBox 13"/>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5" name="TextBox 14"/>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1467589435"/>
      </p:ext>
    </p:extLst>
  </p:cSld>
  <p:clrMapOvr>
    <a:masterClrMapping/>
  </p:clrMapOvr>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513159" y="2571750"/>
            <a:ext cx="6400800" cy="1273050"/>
          </a:xfrm>
        </p:spPr>
        <p:txBody>
          <a:bodyPr anchor="b">
            <a:normAutofit/>
          </a:bodyPr>
          <a:lstStyle>
            <a:lvl1pPr algn="l">
              <a:defRPr sz="2400" b="0" cap="all"/>
            </a:lvl1pPr>
          </a:lstStyle>
          <a:p>
            <a:r>
              <a:rPr lang="en-US"/>
              <a:t>Click to edit Master title style</a:t>
            </a:r>
            <a:endParaRPr lang="en-US" dirty="0"/>
          </a:p>
        </p:txBody>
      </p:sp>
      <p:sp>
        <p:nvSpPr>
          <p:cNvPr id="3" name="Text Placeholder 2"/>
          <p:cNvSpPr>
            <a:spLocks noGrp="1"/>
          </p:cNvSpPr>
          <p:nvPr>
            <p:ph type="body" idx="1"/>
          </p:nvPr>
        </p:nvSpPr>
        <p:spPr>
          <a:xfrm>
            <a:off x="513158" y="3849736"/>
            <a:ext cx="6401993" cy="645300"/>
          </a:xfrm>
        </p:spPr>
        <p:txBody>
          <a:bodyPr anchor="t">
            <a:normAutofit/>
          </a:bodyPr>
          <a:lstStyle>
            <a:lvl1pPr marL="0" indent="0" algn="l">
              <a:buNone/>
              <a:defRPr sz="150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62217732"/>
      </p:ext>
    </p:extLst>
  </p:cSld>
  <p:clrMapOvr>
    <a:masterClrMapping/>
  </p:clrMapOvr>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2" name="Title 1"/>
          <p:cNvSpPr>
            <a:spLocks noGrp="1"/>
          </p:cNvSpPr>
          <p:nvPr>
            <p:ph type="title"/>
          </p:nvPr>
        </p:nvSpPr>
        <p:spPr>
          <a:xfrm>
            <a:off x="856060" y="514350"/>
            <a:ext cx="6858000" cy="2057400"/>
          </a:xfrm>
        </p:spPr>
        <p:txBody>
          <a:bodyPr anchor="ctr">
            <a:normAutofit/>
          </a:bodyPr>
          <a:lstStyle>
            <a:lvl1pPr algn="l">
              <a:defRPr sz="2400" b="0" cap="all">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513159" y="2946400"/>
            <a:ext cx="6400801" cy="78740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733800"/>
            <a:ext cx="6400801" cy="76200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
        <p:nvSpPr>
          <p:cNvPr id="11" name="TextBox 10"/>
          <p:cNvSpPr txBox="1"/>
          <p:nvPr/>
        </p:nvSpPr>
        <p:spPr>
          <a:xfrm>
            <a:off x="398859" y="609167"/>
            <a:ext cx="457200" cy="438582"/>
          </a:xfrm>
          <a:prstGeom prst="rect">
            <a:avLst/>
          </a:prstGeom>
        </p:spPr>
        <p:txBody>
          <a:bodyPr vert="horz" lIns="68580" tIns="34290" rIns="68580" bIns="34290" rtlCol="0" anchor="ctr">
            <a:noAutofit/>
          </a:bodyPr>
          <a:lstStyle/>
          <a:p>
            <a:pPr lvl="0"/>
            <a:r>
              <a:rPr lang="en-US" sz="6000" dirty="0">
                <a:solidFill>
                  <a:schemeClr val="tx1"/>
                </a:solidFill>
                <a:effectLst/>
              </a:rPr>
              <a:t>“</a:t>
            </a:r>
          </a:p>
        </p:txBody>
      </p:sp>
      <p:sp>
        <p:nvSpPr>
          <p:cNvPr id="12" name="TextBox 11"/>
          <p:cNvSpPr txBox="1"/>
          <p:nvPr/>
        </p:nvSpPr>
        <p:spPr>
          <a:xfrm>
            <a:off x="7714059" y="2076451"/>
            <a:ext cx="457200" cy="438582"/>
          </a:xfrm>
          <a:prstGeom prst="rect">
            <a:avLst/>
          </a:prstGeom>
        </p:spPr>
        <p:txBody>
          <a:bodyPr vert="horz" lIns="68580" tIns="34290" rIns="68580" bIns="34290" rtlCol="0" anchor="ctr">
            <a:noAutofit/>
          </a:bodyPr>
          <a:lstStyle/>
          <a:p>
            <a:pPr lvl="0" algn="r"/>
            <a:r>
              <a:rPr lang="en-US" sz="6000" dirty="0">
                <a:solidFill>
                  <a:schemeClr val="tx1"/>
                </a:solidFill>
                <a:effectLst/>
              </a:rPr>
              <a:t>”</a:t>
            </a:r>
          </a:p>
        </p:txBody>
      </p:sp>
    </p:spTree>
    <p:extLst>
      <p:ext uri="{BB962C8B-B14F-4D97-AF65-F5344CB8AC3E}">
        <p14:creationId xmlns:p14="http://schemas.microsoft.com/office/powerpoint/2010/main" val="672214774"/>
      </p:ext>
    </p:extLst>
  </p:cSld>
  <p:clrMapOvr>
    <a:masterClrMapping/>
  </p:clrMapOvr>
  <p:hf sldNum="0" hdr="0" ftr="0" dt="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513160" y="514350"/>
            <a:ext cx="7543800" cy="2057400"/>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513159" y="2946401"/>
            <a:ext cx="6400800" cy="628650"/>
          </a:xfrm>
        </p:spPr>
        <p:txBody>
          <a:bodyPr vert="horz" lIns="91440" tIns="45720" rIns="91440" bIns="45720" rtlCol="0" anchor="b">
            <a:normAutofit/>
          </a:bodyPr>
          <a:lstStyle>
            <a:lvl1pPr>
              <a:buNone/>
              <a:defRPr lang="en-US" sz="1800" b="0" cap="all" dirty="0">
                <a:ln w="3175" cmpd="sng">
                  <a:noFill/>
                </a:ln>
                <a:solidFill>
                  <a:schemeClr val="tx1"/>
                </a:solidFill>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513159" y="3575049"/>
            <a:ext cx="6400801" cy="920750"/>
          </a:xfrm>
        </p:spPr>
        <p:txBody>
          <a:bodyPr anchor="t">
            <a:normAutofit/>
          </a:bodyPr>
          <a:lstStyle>
            <a:lvl1pPr marL="0" indent="0" algn="l">
              <a:buNone/>
              <a:defRPr sz="1350">
                <a:solidFill>
                  <a:schemeClr val="bg2">
                    <a:lumMod val="75000"/>
                  </a:schemeClr>
                </a:solidFill>
              </a:defRPr>
            </a:lvl1pPr>
            <a:lvl2pPr marL="342900" indent="0">
              <a:buNone/>
              <a:defRPr sz="1350">
                <a:solidFill>
                  <a:schemeClr val="tx1">
                    <a:tint val="75000"/>
                  </a:schemeClr>
                </a:solidFill>
              </a:defRPr>
            </a:lvl2pPr>
            <a:lvl3pPr marL="685800" indent="0">
              <a:buNone/>
              <a:defRPr sz="1200">
                <a:solidFill>
                  <a:schemeClr val="tx1">
                    <a:tint val="75000"/>
                  </a:schemeClr>
                </a:solidFill>
              </a:defRPr>
            </a:lvl3pPr>
            <a:lvl4pPr marL="1028700" indent="0">
              <a:buNone/>
              <a:defRPr sz="1050">
                <a:solidFill>
                  <a:schemeClr val="tx1">
                    <a:tint val="75000"/>
                  </a:schemeClr>
                </a:solidFill>
              </a:defRPr>
            </a:lvl4pPr>
            <a:lvl5pPr marL="1371600" indent="0">
              <a:buNone/>
              <a:defRPr sz="1050">
                <a:solidFill>
                  <a:schemeClr val="tx1">
                    <a:tint val="75000"/>
                  </a:schemeClr>
                </a:solidFill>
              </a:defRPr>
            </a:lvl5pPr>
            <a:lvl6pPr marL="1714500" indent="0">
              <a:buNone/>
              <a:defRPr sz="1050">
                <a:solidFill>
                  <a:schemeClr val="tx1">
                    <a:tint val="75000"/>
                  </a:schemeClr>
                </a:solidFill>
              </a:defRPr>
            </a:lvl6pPr>
            <a:lvl7pPr marL="2057400" indent="0">
              <a:buNone/>
              <a:defRPr sz="1050">
                <a:solidFill>
                  <a:schemeClr val="tx1">
                    <a:tint val="75000"/>
                  </a:schemeClr>
                </a:solidFill>
              </a:defRPr>
            </a:lvl7pPr>
            <a:lvl8pPr marL="2400300" indent="0">
              <a:buNone/>
              <a:defRPr sz="1050">
                <a:solidFill>
                  <a:schemeClr val="tx1">
                    <a:tint val="75000"/>
                  </a:schemeClr>
                </a:solidFill>
              </a:defRPr>
            </a:lvl8pPr>
            <a:lvl9pPr marL="2743200" indent="0">
              <a:buNone/>
              <a:defRPr sz="105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3909005242"/>
      </p:ext>
    </p:extLst>
  </p:cSld>
  <p:clrMapOvr>
    <a:masterClrMapping/>
  </p:clrMapOvr>
  <p:hf sldNum="0" hdr="0" ftr="0" dt="0"/>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2302117716"/>
      </p:ext>
    </p:extLst>
  </p:cSld>
  <p:clrMapOvr>
    <a:masterClrMapping/>
  </p:clrMapOvr>
  <p:hf sldNum="0" hdr="0" ftr="0" dt="0"/>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13909" y="514350"/>
            <a:ext cx="1543050" cy="34290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514350" y="514350"/>
            <a:ext cx="5867400" cy="3981450"/>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1BEF0D-F0BB-DE4B-95CE-6DB70DBA9567}" type="datetimeFigureOut">
              <a:rPr lang="en-US" dirty="0"/>
              <a:pPr/>
              <a:t>10/18/2026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49772938"/>
      </p:ext>
    </p:extLst>
  </p:cSld>
  <p:clrMapOvr>
    <a:masterClrMapping/>
  </p:clrMapOvr>
  <p:hf sldNum="0" hdr="0" ftr="0" dt="0"/>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0707204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2"/>
      </p:bgRef>
    </p:bg>
    <p:spTree>
      <p:nvGrpSpPr>
        <p:cNvPr id="1" name=""/>
        <p:cNvGrpSpPr/>
        <p:nvPr/>
      </p:nvGrpSpPr>
      <p:grpSpPr>
        <a:xfrm>
          <a:off x="0" y="0"/>
          <a:ext cx="0" cy="0"/>
          <a:chOff x="0" y="0"/>
          <a:chExt cx="0" cy="0"/>
        </a:xfrm>
      </p:grpSpPr>
      <p:grpSp>
        <p:nvGrpSpPr>
          <p:cNvPr id="7" name="Group 6"/>
          <p:cNvGrpSpPr/>
          <p:nvPr/>
        </p:nvGrpSpPr>
        <p:grpSpPr>
          <a:xfrm>
            <a:off x="6905227" y="2222500"/>
            <a:ext cx="2236394" cy="2406650"/>
            <a:chOff x="9206969" y="2963333"/>
            <a:chExt cx="2981858" cy="3208867"/>
          </a:xfrm>
        </p:grpSpPr>
        <p:cxnSp>
          <p:nvCxnSpPr>
            <p:cNvPr id="8" name="Straight Connector 7"/>
            <p:cNvCxnSpPr/>
            <p:nvPr/>
          </p:nvCxnSpPr>
          <p:spPr>
            <a:xfrm flipH="1">
              <a:off x="11276012" y="2963333"/>
              <a:ext cx="912814" cy="912812"/>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9" name="Straight Connector 8"/>
            <p:cNvCxnSpPr/>
            <p:nvPr/>
          </p:nvCxnSpPr>
          <p:spPr>
            <a:xfrm flipH="1">
              <a:off x="9206969" y="3190344"/>
              <a:ext cx="2981857" cy="2981856"/>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0" name="Straight Connector 9"/>
            <p:cNvCxnSpPr/>
            <p:nvPr/>
          </p:nvCxnSpPr>
          <p:spPr>
            <a:xfrm flipH="1">
              <a:off x="10292292" y="3285067"/>
              <a:ext cx="1896534" cy="1896533"/>
            </a:xfrm>
            <a:prstGeom prst="line">
              <a:avLst/>
            </a:prstGeom>
            <a:ln w="952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1" name="Straight Connector 10"/>
            <p:cNvCxnSpPr/>
            <p:nvPr/>
          </p:nvCxnSpPr>
          <p:spPr>
            <a:xfrm flipH="1">
              <a:off x="10443103" y="3131080"/>
              <a:ext cx="1745722" cy="1745720"/>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2" name="Straight Connector 11"/>
            <p:cNvCxnSpPr/>
            <p:nvPr/>
          </p:nvCxnSpPr>
          <p:spPr>
            <a:xfrm flipH="1">
              <a:off x="10918826" y="3683001"/>
              <a:ext cx="1270001" cy="1269999"/>
            </a:xfrm>
            <a:prstGeom prst="line">
              <a:avLst/>
            </a:prstGeom>
            <a:ln w="28575">
              <a:solidFill>
                <a:schemeClr val="tx1"/>
              </a:solidFill>
            </a:ln>
          </p:spPr>
          <p:style>
            <a:lnRef idx="2">
              <a:schemeClr val="accent1"/>
            </a:lnRef>
            <a:fillRef idx="0">
              <a:schemeClr val="accent1"/>
            </a:fillRef>
            <a:effectRef idx="1">
              <a:schemeClr val="accent1"/>
            </a:effectRef>
            <a:fontRef idx="minor">
              <a:schemeClr val="tx1"/>
            </a:fontRef>
          </p:style>
        </p:cxnSp>
      </p:grpSp>
      <p:sp>
        <p:nvSpPr>
          <p:cNvPr id="2" name="Title Placeholder 1"/>
          <p:cNvSpPr>
            <a:spLocks noGrp="1"/>
          </p:cNvSpPr>
          <p:nvPr>
            <p:ph type="title"/>
          </p:nvPr>
        </p:nvSpPr>
        <p:spPr>
          <a:xfrm>
            <a:off x="513159" y="3365499"/>
            <a:ext cx="6400800" cy="11303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513159" y="514351"/>
            <a:ext cx="6400800" cy="2711450"/>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28309" y="4629150"/>
            <a:ext cx="1200150" cy="273844"/>
          </a:xfrm>
          <a:prstGeom prst="rect">
            <a:avLst/>
          </a:prstGeom>
        </p:spPr>
        <p:txBody>
          <a:bodyPr vert="horz" lIns="91440" tIns="45720" rIns="91440" bIns="45720" rtlCol="0" anchor="t"/>
          <a:lstStyle>
            <a:lvl1pPr algn="r">
              <a:defRPr sz="750" b="0" i="0">
                <a:solidFill>
                  <a:schemeClr val="bg2">
                    <a:lumMod val="50000"/>
                  </a:schemeClr>
                </a:solidFill>
                <a:effectLst/>
                <a:latin typeface="+mn-lt"/>
              </a:defRPr>
            </a:lvl1pPr>
          </a:lstStyle>
          <a:p>
            <a:fld id="{B61BEF0D-F0BB-DE4B-95CE-6DB70DBA9567}" type="datetimeFigureOut">
              <a:rPr lang="en-US" dirty="0"/>
              <a:pPr/>
              <a:t>10/18/2026</a:t>
            </a:fld>
            <a:endParaRPr lang="en-US" dirty="0"/>
          </a:p>
        </p:txBody>
      </p:sp>
      <p:sp>
        <p:nvSpPr>
          <p:cNvPr id="5" name="Footer Placeholder 4"/>
          <p:cNvSpPr>
            <a:spLocks noGrp="1"/>
          </p:cNvSpPr>
          <p:nvPr>
            <p:ph type="ftr" sz="quarter" idx="3"/>
          </p:nvPr>
        </p:nvSpPr>
        <p:spPr>
          <a:xfrm>
            <a:off x="513159" y="4629150"/>
            <a:ext cx="5657850" cy="273844"/>
          </a:xfrm>
          <a:prstGeom prst="rect">
            <a:avLst/>
          </a:prstGeom>
        </p:spPr>
        <p:txBody>
          <a:bodyPr vert="horz" lIns="91440" tIns="45720" rIns="91440" bIns="45720" rtlCol="0" anchor="t"/>
          <a:lstStyle>
            <a:lvl1pPr algn="l">
              <a:defRPr sz="750" b="0" i="0">
                <a:solidFill>
                  <a:schemeClr val="bg2">
                    <a:lumMod val="50000"/>
                  </a:schemeClr>
                </a:solidFill>
                <a:effectLst/>
                <a:latin typeface="+mn-lt"/>
              </a:defRPr>
            </a:lvl1pPr>
          </a:lstStyle>
          <a:p>
            <a:endParaRPr lang="en-US" dirty="0"/>
          </a:p>
        </p:txBody>
      </p:sp>
      <p:sp>
        <p:nvSpPr>
          <p:cNvPr id="6" name="Slide Number Placeholder 5"/>
          <p:cNvSpPr>
            <a:spLocks noGrp="1"/>
          </p:cNvSpPr>
          <p:nvPr>
            <p:ph type="sldNum" sz="quarter" idx="4"/>
          </p:nvPr>
        </p:nvSpPr>
        <p:spPr>
          <a:xfrm>
            <a:off x="7772400" y="4183857"/>
            <a:ext cx="856684" cy="502444"/>
          </a:xfrm>
          <a:prstGeom prst="rect">
            <a:avLst/>
          </a:prstGeom>
        </p:spPr>
        <p:txBody>
          <a:bodyPr vert="horz" lIns="91440" tIns="45720" rIns="91440" bIns="45720" rtlCol="0" anchor="b"/>
          <a:lstStyle>
            <a:lvl1pPr algn="r">
              <a:defRPr sz="2400" b="0" i="0">
                <a:solidFill>
                  <a:schemeClr val="bg2">
                    <a:lumMod val="50000"/>
                  </a:schemeClr>
                </a:solidFill>
                <a:effectLst/>
                <a:latin typeface="+mn-lt"/>
              </a:defRPr>
            </a:lvl1pPr>
          </a:lstStyle>
          <a:p>
            <a:fld id="{D57F1E4F-1CFF-5643-939E-217C01CDF565}" type="slidenum">
              <a:rPr lang="en-US" dirty="0"/>
              <a:pPr/>
              <a:t>‹#›</a:t>
            </a:fld>
            <a:endParaRPr lang="en-US" dirty="0"/>
          </a:p>
        </p:txBody>
      </p:sp>
    </p:spTree>
    <p:extLst>
      <p:ext uri="{BB962C8B-B14F-4D97-AF65-F5344CB8AC3E}">
        <p14:creationId xmlns:p14="http://schemas.microsoft.com/office/powerpoint/2010/main" val="1896907718"/>
      </p:ext>
    </p:extLst>
  </p:cSld>
  <p:clrMap bg1="dk1" tx1="lt1" bg2="dk2" tx2="lt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Lst>
  <p:hf sldNum="0" hdr="0" ftr="0" dt="0"/>
  <p:txStyles>
    <p:titleStyle>
      <a:lvl1pPr algn="l" defTabSz="342900" rtl="0" eaLnBrk="1" latinLnBrk="0" hangingPunct="1">
        <a:spcBef>
          <a:spcPct val="0"/>
        </a:spcBef>
        <a:buNone/>
        <a:defRPr sz="2700" kern="1200" cap="all">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143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500" kern="1200" cap="none">
          <a:solidFill>
            <a:schemeClr val="bg2">
              <a:lumMod val="75000"/>
            </a:schemeClr>
          </a:solidFill>
          <a:effectLst/>
          <a:latin typeface="+mn-lt"/>
          <a:ea typeface="+mn-ea"/>
          <a:cs typeface="+mn-cs"/>
        </a:defRPr>
      </a:lvl1pPr>
      <a:lvl2pPr marL="5572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350" kern="1200" cap="none">
          <a:solidFill>
            <a:schemeClr val="bg2">
              <a:lumMod val="75000"/>
            </a:schemeClr>
          </a:solidFill>
          <a:effectLst/>
          <a:latin typeface="+mn-lt"/>
          <a:ea typeface="+mn-ea"/>
          <a:cs typeface="+mn-cs"/>
        </a:defRPr>
      </a:lvl2pPr>
      <a:lvl3pPr marL="900113" indent="-214313" algn="l" defTabSz="342900" rtl="0" eaLnBrk="1" latinLnBrk="0" hangingPunct="1">
        <a:spcBef>
          <a:spcPct val="20000"/>
        </a:spcBef>
        <a:spcAft>
          <a:spcPts val="450"/>
        </a:spcAft>
        <a:buClr>
          <a:schemeClr val="tx1"/>
        </a:buClr>
        <a:buSzPct val="80000"/>
        <a:buFont typeface="Wingdings 3" panose="05040102010807070707" pitchFamily="18" charset="2"/>
        <a:buChar char=""/>
        <a:defRPr sz="1200" kern="1200" cap="none">
          <a:solidFill>
            <a:schemeClr val="bg2">
              <a:lumMod val="75000"/>
            </a:schemeClr>
          </a:solidFill>
          <a:effectLst/>
          <a:latin typeface="+mn-lt"/>
          <a:ea typeface="+mn-ea"/>
          <a:cs typeface="+mn-cs"/>
        </a:defRPr>
      </a:lvl3pPr>
      <a:lvl4pPr marL="11572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4pPr>
      <a:lvl5pPr marL="1500188" indent="-128588"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5pPr>
      <a:lvl6pPr marL="18859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6pPr>
      <a:lvl7pPr marL="22288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7pPr>
      <a:lvl8pPr marL="25717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8pPr>
      <a:lvl9pPr marL="2914650" indent="-171450" algn="l" defTabSz="342900" rtl="0" eaLnBrk="1" latinLnBrk="0" hangingPunct="1">
        <a:spcBef>
          <a:spcPct val="20000"/>
        </a:spcBef>
        <a:spcAft>
          <a:spcPts val="450"/>
        </a:spcAft>
        <a:buClr>
          <a:schemeClr val="tx1"/>
        </a:buClr>
        <a:buSzPct val="80000"/>
        <a:buFont typeface="Wingdings 3" panose="05040102010807070707" pitchFamily="18" charset="2"/>
        <a:buChar char=""/>
        <a:defRPr sz="1050" kern="1200" cap="none">
          <a:solidFill>
            <a:schemeClr val="bg2">
              <a:lumMod val="75000"/>
            </a:schemeClr>
          </a:solidFill>
          <a:effectLst/>
          <a:latin typeface="+mn-lt"/>
          <a:ea typeface="+mn-ea"/>
          <a:cs typeface="+mn-cs"/>
        </a:defRPr>
      </a:lvl9pPr>
    </p:bodyStyle>
    <p:otherStyle>
      <a:defPPr>
        <a:defRPr lang="en-US"/>
      </a:defPPr>
      <a:lvl1pPr marL="0" algn="l" defTabSz="342900" rtl="0" eaLnBrk="1" latinLnBrk="0" hangingPunct="1">
        <a:defRPr sz="1350" kern="1200">
          <a:solidFill>
            <a:schemeClr val="tx1"/>
          </a:solidFill>
          <a:latin typeface="+mn-lt"/>
          <a:ea typeface="+mn-ea"/>
          <a:cs typeface="+mn-cs"/>
        </a:defRPr>
      </a:lvl1pPr>
      <a:lvl2pPr marL="342900" algn="l" defTabSz="342900" rtl="0" eaLnBrk="1" latinLnBrk="0" hangingPunct="1">
        <a:defRPr sz="1350" kern="1200">
          <a:solidFill>
            <a:schemeClr val="tx1"/>
          </a:solidFill>
          <a:latin typeface="+mn-lt"/>
          <a:ea typeface="+mn-ea"/>
          <a:cs typeface="+mn-cs"/>
        </a:defRPr>
      </a:lvl2pPr>
      <a:lvl3pPr marL="685800" algn="l" defTabSz="342900" rtl="0" eaLnBrk="1" latinLnBrk="0" hangingPunct="1">
        <a:defRPr sz="1350" kern="1200">
          <a:solidFill>
            <a:schemeClr val="tx1"/>
          </a:solidFill>
          <a:latin typeface="+mn-lt"/>
          <a:ea typeface="+mn-ea"/>
          <a:cs typeface="+mn-cs"/>
        </a:defRPr>
      </a:lvl3pPr>
      <a:lvl4pPr marL="1028700" algn="l" defTabSz="342900" rtl="0" eaLnBrk="1" latinLnBrk="0" hangingPunct="1">
        <a:defRPr sz="1350" kern="1200">
          <a:solidFill>
            <a:schemeClr val="tx1"/>
          </a:solidFill>
          <a:latin typeface="+mn-lt"/>
          <a:ea typeface="+mn-ea"/>
          <a:cs typeface="+mn-cs"/>
        </a:defRPr>
      </a:lvl4pPr>
      <a:lvl5pPr marL="1371600" algn="l" defTabSz="342900" rtl="0" eaLnBrk="1" latinLnBrk="0" hangingPunct="1">
        <a:defRPr sz="1350" kern="1200">
          <a:solidFill>
            <a:schemeClr val="tx1"/>
          </a:solidFill>
          <a:latin typeface="+mn-lt"/>
          <a:ea typeface="+mn-ea"/>
          <a:cs typeface="+mn-cs"/>
        </a:defRPr>
      </a:lvl5pPr>
      <a:lvl6pPr marL="1714500" algn="l" defTabSz="342900" rtl="0" eaLnBrk="1" latinLnBrk="0" hangingPunct="1">
        <a:defRPr sz="1350" kern="1200">
          <a:solidFill>
            <a:schemeClr val="tx1"/>
          </a:solidFill>
          <a:latin typeface="+mn-lt"/>
          <a:ea typeface="+mn-ea"/>
          <a:cs typeface="+mn-cs"/>
        </a:defRPr>
      </a:lvl6pPr>
      <a:lvl7pPr marL="2057400" algn="l" defTabSz="342900" rtl="0" eaLnBrk="1" latinLnBrk="0" hangingPunct="1">
        <a:defRPr sz="1350" kern="1200">
          <a:solidFill>
            <a:schemeClr val="tx1"/>
          </a:solidFill>
          <a:latin typeface="+mn-lt"/>
          <a:ea typeface="+mn-ea"/>
          <a:cs typeface="+mn-cs"/>
        </a:defRPr>
      </a:lvl7pPr>
      <a:lvl8pPr marL="2400300" algn="l" defTabSz="342900" rtl="0" eaLnBrk="1" latinLnBrk="0" hangingPunct="1">
        <a:defRPr sz="1350" kern="1200">
          <a:solidFill>
            <a:schemeClr val="tx1"/>
          </a:solidFill>
          <a:latin typeface="+mn-lt"/>
          <a:ea typeface="+mn-ea"/>
          <a:cs typeface="+mn-cs"/>
        </a:defRPr>
      </a:lvl8pPr>
      <a:lvl9pPr marL="2743200" algn="l" defTabSz="3429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8.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8.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8.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4.xml"/><Relationship Id="rId1" Type="http://schemas.openxmlformats.org/officeDocument/2006/relationships/slideLayout" Target="../slideLayouts/slideLayout18.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1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8.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8.xml"/></Relationships>
</file>

<file path=ppt/slides/_rels/slide8.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AF9F4"/>
        </a:solidFill>
        <a:effectLst/>
      </p:bgPr>
    </p:bg>
    <p:spTree>
      <p:nvGrpSpPr>
        <p:cNvPr id="1" name=""/>
        <p:cNvGrpSpPr/>
        <p:nvPr/>
      </p:nvGrpSpPr>
      <p:grpSpPr>
        <a:xfrm>
          <a:off x="0" y="0"/>
          <a:ext cx="0" cy="0"/>
          <a:chOff x="0" y="0"/>
          <a:chExt cx="0" cy="0"/>
        </a:xfrm>
      </p:grpSpPr>
      <p:pic>
        <p:nvPicPr>
          <p:cNvPr id="21" name="Picture 20">
            <a:extLst>
              <a:ext uri="{FF2B5EF4-FFF2-40B4-BE49-F238E27FC236}">
                <a16:creationId xmlns:a16="http://schemas.microsoft.com/office/drawing/2014/main" id="{FBD2404C-7F49-D881-C000-9E348C486FC3}"/>
              </a:ext>
            </a:extLst>
          </p:cNvPr>
          <p:cNvPicPr>
            <a:picLocks noChangeAspect="1"/>
          </p:cNvPicPr>
          <p:nvPr/>
        </p:nvPicPr>
        <p:blipFill>
          <a:blip r:embed="rId3"/>
          <a:stretch>
            <a:fillRect/>
          </a:stretch>
        </p:blipFill>
        <p:spPr>
          <a:xfrm>
            <a:off x="0" y="0"/>
            <a:ext cx="9139141" cy="51435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346165" y="146304"/>
            <a:ext cx="7315200" cy="228600"/>
          </a:xfrm>
          <a:prstGeom prst="rect">
            <a:avLst/>
          </a:prstGeom>
          <a:noFill/>
          <a:ln/>
        </p:spPr>
        <p:txBody>
          <a:bodyPr wrap="square" lIns="0" tIns="0" rIns="0" bIns="0" rtlCol="0" anchor="t"/>
          <a:lstStyle/>
          <a:p>
            <a:pPr marL="0" indent="0" algn="ctr">
              <a:buNone/>
            </a:pPr>
            <a:r>
              <a:rPr lang="en-US" sz="2800" b="1" u="sng" kern="0" spc="100" dirty="0">
                <a:solidFill>
                  <a:schemeClr val="bg1"/>
                </a:solidFill>
                <a:latin typeface="Times New Roman" panose="02020603050405020304" pitchFamily="18" charset="0"/>
                <a:ea typeface="Calibri" pitchFamily="34" charset="-122"/>
                <a:cs typeface="Times New Roman" panose="02020603050405020304" pitchFamily="18" charset="0"/>
              </a:rPr>
              <a:t>THE PROBLEM</a:t>
            </a:r>
            <a:endParaRPr lang="en-US" sz="2800" u="sng" dirty="0">
              <a:solidFill>
                <a:schemeClr val="bg1"/>
              </a:solidFill>
              <a:latin typeface="Times New Roman" panose="02020603050405020304" pitchFamily="18" charset="0"/>
              <a:cs typeface="Times New Roman" panose="02020603050405020304" pitchFamily="18" charset="0"/>
            </a:endParaRPr>
          </a:p>
        </p:txBody>
      </p:sp>
      <p:sp>
        <p:nvSpPr>
          <p:cNvPr id="3" name="Text 1"/>
          <p:cNvSpPr txBox="1"/>
          <p:nvPr/>
        </p:nvSpPr>
        <p:spPr>
          <a:xfrm>
            <a:off x="274320" y="737187"/>
            <a:ext cx="8229600" cy="548640"/>
          </a:xfrm>
          <a:prstGeom prst="rect">
            <a:avLst/>
          </a:prstGeom>
          <a:noFill/>
          <a:ln/>
        </p:spPr>
        <p:txBody>
          <a:bodyPr wrap="square" lIns="0" tIns="0" rIns="0" bIns="0" rtlCol="0" anchor="t"/>
          <a:lstStyle/>
          <a:p>
            <a:pPr marL="0" indent="0">
              <a:buNone/>
            </a:pPr>
            <a:r>
              <a:rPr lang="en-US" sz="1600" b="1" dirty="0">
                <a:solidFill>
                  <a:schemeClr val="bg1"/>
                </a:solidFill>
                <a:latin typeface="Times New Roman" panose="02020603050405020304" pitchFamily="18" charset="0"/>
                <a:ea typeface="Cambria" pitchFamily="34" charset="-122"/>
                <a:cs typeface="Times New Roman" panose="02020603050405020304" pitchFamily="18" charset="0"/>
              </a:rPr>
              <a:t>One answer can contain many different truths.</a:t>
            </a:r>
            <a:endParaRPr lang="en-US" sz="1600" dirty="0">
              <a:solidFill>
                <a:schemeClr val="bg1"/>
              </a:solidFill>
              <a:latin typeface="Times New Roman" panose="02020603050405020304" pitchFamily="18" charset="0"/>
              <a:cs typeface="Times New Roman" panose="02020603050405020304" pitchFamily="18" charset="0"/>
            </a:endParaRPr>
          </a:p>
        </p:txBody>
      </p:sp>
      <p:sp>
        <p:nvSpPr>
          <p:cNvPr id="7" name="Text 4"/>
          <p:cNvSpPr txBox="1"/>
          <p:nvPr/>
        </p:nvSpPr>
        <p:spPr>
          <a:xfrm>
            <a:off x="274321" y="1211966"/>
            <a:ext cx="4728754" cy="2377440"/>
          </a:xfrm>
          <a:prstGeom prst="rect">
            <a:avLst/>
          </a:prstGeom>
          <a:noFill/>
          <a:ln/>
        </p:spPr>
        <p:txBody>
          <a:bodyPr wrap="square" lIns="0" tIns="0" rIns="0" bIns="0" rtlCol="0" anchor="t"/>
          <a:lstStyle/>
          <a:p>
            <a:pPr marL="342900" indent="-342900" algn="just">
              <a:spcAft>
                <a:spcPts val="500"/>
              </a:spcAft>
              <a:buSzPct val="100000"/>
              <a:buChar char="•"/>
            </a:pPr>
            <a:r>
              <a:rPr lang="en-IN" sz="1400" b="1" dirty="0">
                <a:solidFill>
                  <a:schemeClr val="bg1"/>
                </a:solidFill>
                <a:latin typeface="Times New Roman" panose="02020603050405020304" pitchFamily="18" charset="0"/>
                <a:cs typeface="Times New Roman" panose="02020603050405020304" pitchFamily="18" charset="0"/>
              </a:rPr>
              <a:t>Mixed information</a:t>
            </a:r>
            <a:r>
              <a:rPr lang="en-IN" sz="1400" dirty="0">
                <a:solidFill>
                  <a:schemeClr val="bg1"/>
                </a:solidFill>
                <a:latin typeface="Times New Roman" panose="02020603050405020304" pitchFamily="18" charset="0"/>
                <a:cs typeface="Times New Roman" panose="02020603050405020304" pitchFamily="18" charset="0"/>
              </a:rPr>
              <a:t>: An AI-generated answer may combine correct facts with outdated, misleading, or incorrect claims. Each factual claim needs to be checked independently.</a:t>
            </a:r>
          </a:p>
          <a:p>
            <a:pPr marL="285750" indent="-285750" algn="just">
              <a:spcAft>
                <a:spcPts val="500"/>
              </a:spcAft>
              <a:buSzPct val="100000"/>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Hidden errors</a:t>
            </a:r>
            <a:r>
              <a:rPr lang="en-IN" sz="1400" dirty="0">
                <a:solidFill>
                  <a:schemeClr val="bg1"/>
                </a:solidFill>
                <a:latin typeface="Times New Roman" panose="02020603050405020304" pitchFamily="18" charset="0"/>
                <a:cs typeface="Times New Roman" panose="02020603050405020304" pitchFamily="18" charset="0"/>
              </a:rPr>
              <a:t>: A single True/False label cannot show which statements are correct and which require correction. </a:t>
            </a:r>
          </a:p>
          <a:p>
            <a:pPr marL="285750" indent="-285750" algn="just">
              <a:spcAft>
                <a:spcPts val="500"/>
              </a:spcAft>
              <a:buSzPct val="100000"/>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Scattered evidence: </a:t>
            </a:r>
            <a:r>
              <a:rPr lang="en-IN" sz="1400" dirty="0">
                <a:solidFill>
                  <a:schemeClr val="bg1"/>
                </a:solidFill>
                <a:latin typeface="Times New Roman" panose="02020603050405020304" pitchFamily="18" charset="0"/>
                <a:cs typeface="Times New Roman" panose="02020603050405020304" pitchFamily="18" charset="0"/>
              </a:rPr>
              <a:t>Finding reliable web sources and comparing them against individual claims takes time.</a:t>
            </a:r>
          </a:p>
          <a:p>
            <a:pPr marL="285750" indent="-285750" algn="just">
              <a:spcAft>
                <a:spcPts val="500"/>
              </a:spcAft>
              <a:buSzPct val="100000"/>
              <a:buFont typeface="Arial" panose="020B0604020202020204" pitchFamily="34" charset="0"/>
              <a:buChar char="•"/>
            </a:pPr>
            <a:r>
              <a:rPr lang="en-IN" sz="1400" b="1" dirty="0">
                <a:solidFill>
                  <a:schemeClr val="bg1"/>
                </a:solidFill>
                <a:latin typeface="Times New Roman" panose="02020603050405020304" pitchFamily="18" charset="0"/>
                <a:cs typeface="Times New Roman" panose="02020603050405020304" pitchFamily="18" charset="0"/>
              </a:rPr>
              <a:t>Manual verification: </a:t>
            </a:r>
            <a:r>
              <a:rPr lang="en-IN" sz="1400" dirty="0">
                <a:solidFill>
                  <a:schemeClr val="bg1"/>
                </a:solidFill>
                <a:latin typeface="Times New Roman" panose="02020603050405020304" pitchFamily="18" charset="0"/>
                <a:cs typeface="Times New Roman" panose="02020603050405020304" pitchFamily="18" charset="0"/>
              </a:rPr>
              <a:t>Readers must research each statement themselves, making the process slow and difficult to scale.</a:t>
            </a:r>
            <a:endParaRPr lang="en-US" sz="1400" dirty="0">
              <a:solidFill>
                <a:schemeClr val="bg1"/>
              </a:solidFill>
              <a:latin typeface="Times New Roman" panose="02020603050405020304" pitchFamily="18" charset="0"/>
              <a:cs typeface="Times New Roman" panose="02020603050405020304" pitchFamily="18" charset="0"/>
            </a:endParaRPr>
          </a:p>
        </p:txBody>
      </p:sp>
      <p:sp>
        <p:nvSpPr>
          <p:cNvPr id="25" name="Text 22"/>
          <p:cNvSpPr txBox="1"/>
          <p:nvPr/>
        </p:nvSpPr>
        <p:spPr>
          <a:xfrm>
            <a:off x="274320" y="3863417"/>
            <a:ext cx="7863840" cy="640080"/>
          </a:xfrm>
          <a:prstGeom prst="rect">
            <a:avLst/>
          </a:prstGeom>
          <a:noFill/>
          <a:ln/>
        </p:spPr>
        <p:txBody>
          <a:bodyPr wrap="square" lIns="0" tIns="0" rIns="0" bIns="0" rtlCol="0" anchor="ctr"/>
          <a:lstStyle/>
          <a:p>
            <a:r>
              <a:rPr lang="en-US" sz="1350" b="1" dirty="0">
                <a:solidFill>
                  <a:schemeClr val="bg1"/>
                </a:solidFill>
                <a:latin typeface="Times New Roman" panose="02020603050405020304" pitchFamily="18" charset="0"/>
                <a:ea typeface="Calibri" pitchFamily="34" charset="-122"/>
                <a:cs typeface="Times New Roman" panose="02020603050405020304" pitchFamily="18" charset="0"/>
              </a:rPr>
              <a:t>THE SOLUTION : </a:t>
            </a:r>
            <a:r>
              <a:rPr lang="en-IN" sz="1400" dirty="0" err="1">
                <a:solidFill>
                  <a:schemeClr val="bg1"/>
                </a:solidFill>
                <a:latin typeface="Times New Roman" panose="02020603050405020304" pitchFamily="18" charset="0"/>
                <a:cs typeface="Times New Roman" panose="02020603050405020304" pitchFamily="18" charset="0"/>
              </a:rPr>
              <a:t>FactFinder</a:t>
            </a:r>
            <a:r>
              <a:rPr lang="en-IN" sz="1400" dirty="0">
                <a:solidFill>
                  <a:schemeClr val="bg1"/>
                </a:solidFill>
                <a:latin typeface="Times New Roman" panose="02020603050405020304" pitchFamily="18" charset="0"/>
                <a:cs typeface="Times New Roman" panose="02020603050405020304" pitchFamily="18" charset="0"/>
              </a:rPr>
              <a:t> breaks a statement into individual claims, searches for relevant web evidence using the project's verification workflow, and classifies each claim as Supported, Refuted, or Insufficient Evidence. It provides explanations and confidence levels to help users understand the results.</a:t>
            </a:r>
            <a:endParaRPr lang="en-US" sz="1350" dirty="0">
              <a:solidFill>
                <a:schemeClr val="bg1"/>
              </a:solidFill>
              <a:latin typeface="Times New Roman" panose="02020603050405020304" pitchFamily="18" charset="0"/>
              <a:cs typeface="Times New Roman" panose="02020603050405020304" pitchFamily="18" charset="0"/>
            </a:endParaRPr>
          </a:p>
        </p:txBody>
      </p:sp>
      <p:pic>
        <p:nvPicPr>
          <p:cNvPr id="24" name="Picture 23">
            <a:extLst>
              <a:ext uri="{FF2B5EF4-FFF2-40B4-BE49-F238E27FC236}">
                <a16:creationId xmlns:a16="http://schemas.microsoft.com/office/drawing/2014/main" id="{978EAC18-4E9A-D968-4559-C6CF524F4C69}"/>
              </a:ext>
            </a:extLst>
          </p:cNvPr>
          <p:cNvPicPr>
            <a:picLocks noChangeAspect="1"/>
          </p:cNvPicPr>
          <p:nvPr/>
        </p:nvPicPr>
        <p:blipFill>
          <a:blip r:embed="rId3"/>
          <a:stretch>
            <a:fillRect/>
          </a:stretch>
        </p:blipFill>
        <p:spPr>
          <a:xfrm>
            <a:off x="5336177" y="907869"/>
            <a:ext cx="3415937" cy="286973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7315200" cy="228600"/>
          </a:xfrm>
          <a:prstGeom prst="rect">
            <a:avLst/>
          </a:prstGeom>
          <a:noFill/>
          <a:ln/>
        </p:spPr>
        <p:txBody>
          <a:bodyPr wrap="square" lIns="0" tIns="0" rIns="0" bIns="0" rtlCol="0" anchor="t"/>
          <a:lstStyle/>
          <a:p>
            <a:pPr marL="0" indent="0">
              <a:buNone/>
            </a:pPr>
            <a:r>
              <a:rPr lang="en-US" sz="2700" b="1" u="sng" kern="0" spc="100" dirty="0">
                <a:solidFill>
                  <a:schemeClr val="bg1"/>
                </a:solidFill>
                <a:latin typeface="Times New Roman" panose="02020603050405020304" pitchFamily="18" charset="0"/>
                <a:ea typeface="Calibri" pitchFamily="34" charset="-122"/>
                <a:cs typeface="Times New Roman" panose="02020603050405020304" pitchFamily="18" charset="0"/>
              </a:rPr>
              <a:t>THE SOLUTION</a:t>
            </a:r>
            <a:endParaRPr lang="en-US" sz="2700" u="sng" dirty="0">
              <a:solidFill>
                <a:schemeClr val="bg1"/>
              </a:solidFill>
              <a:latin typeface="Times New Roman" panose="02020603050405020304" pitchFamily="18" charset="0"/>
              <a:cs typeface="Times New Roman" panose="02020603050405020304" pitchFamily="18" charset="0"/>
            </a:endParaRPr>
          </a:p>
        </p:txBody>
      </p:sp>
      <p:sp>
        <p:nvSpPr>
          <p:cNvPr id="3" name="Text 1"/>
          <p:cNvSpPr txBox="1"/>
          <p:nvPr/>
        </p:nvSpPr>
        <p:spPr>
          <a:xfrm>
            <a:off x="320040" y="764177"/>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Check every claim, not just the answer.</a:t>
            </a:r>
            <a:endParaRPr lang="en-US" sz="1600" dirty="0"/>
          </a:p>
        </p:txBody>
      </p:sp>
      <p:sp>
        <p:nvSpPr>
          <p:cNvPr id="7" name="Text 4"/>
          <p:cNvSpPr txBox="1"/>
          <p:nvPr/>
        </p:nvSpPr>
        <p:spPr>
          <a:xfrm>
            <a:off x="1090749" y="1284732"/>
            <a:ext cx="2743200" cy="201168"/>
          </a:xfrm>
          <a:prstGeom prst="rect">
            <a:avLst/>
          </a:prstGeom>
          <a:noFill/>
          <a:ln/>
        </p:spPr>
        <p:txBody>
          <a:bodyPr wrap="square" lIns="0" tIns="0" rIns="0" bIns="0" rtlCol="0" anchor="t"/>
          <a:lstStyle/>
          <a:p>
            <a:pPr marL="0" indent="0">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TRADITIONAL CHECK</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8" name="Shape 5"/>
          <p:cNvSpPr/>
          <p:nvPr/>
        </p:nvSpPr>
        <p:spPr>
          <a:xfrm>
            <a:off x="457200" y="1645920"/>
            <a:ext cx="1371600" cy="640080"/>
          </a:xfrm>
          <a:prstGeom prst="rect">
            <a:avLst/>
          </a:prstGeom>
          <a:solidFill>
            <a:srgbClr val="FFFFFF"/>
          </a:solidFill>
          <a:ln w="12700">
            <a:solidFill>
              <a:srgbClr val="B9C2BB"/>
            </a:solidFill>
            <a:prstDash val="solid"/>
          </a:ln>
        </p:spPr>
      </p:sp>
      <p:sp>
        <p:nvSpPr>
          <p:cNvPr id="9" name="Text 6"/>
          <p:cNvSpPr txBox="1"/>
          <p:nvPr/>
        </p:nvSpPr>
        <p:spPr>
          <a:xfrm>
            <a:off x="457200" y="1645920"/>
            <a:ext cx="1371600" cy="640080"/>
          </a:xfrm>
          <a:prstGeom prst="rect">
            <a:avLst/>
          </a:prstGeom>
          <a:noFill/>
          <a:ln/>
        </p:spPr>
        <p:txBody>
          <a:bodyPr wrap="square" lIns="63500" tIns="63500" rIns="63500" bIns="63500" rtlCol="0" anchor="ctr"/>
          <a:lstStyle/>
          <a:p>
            <a:pPr marL="0" indent="0" algn="ctr">
              <a:buNone/>
            </a:pPr>
            <a:r>
              <a:rPr lang="en-US" sz="1300" dirty="0">
                <a:solidFill>
                  <a:srgbClr val="12291F"/>
                </a:solidFill>
                <a:latin typeface="Times New Roman" panose="02020603050405020304" pitchFamily="18" charset="0"/>
                <a:ea typeface="Calibri" pitchFamily="34" charset="-122"/>
                <a:cs typeface="Times New Roman" panose="02020603050405020304" pitchFamily="18" charset="0"/>
              </a:rPr>
              <a:t>Whole answer</a:t>
            </a:r>
            <a:endParaRPr lang="en-US" sz="1300" dirty="0">
              <a:latin typeface="Times New Roman" panose="02020603050405020304" pitchFamily="18" charset="0"/>
              <a:cs typeface="Times New Roman" panose="02020603050405020304" pitchFamily="18" charset="0"/>
            </a:endParaRPr>
          </a:p>
        </p:txBody>
      </p:sp>
      <p:sp>
        <p:nvSpPr>
          <p:cNvPr id="10" name="Shape 7"/>
          <p:cNvSpPr/>
          <p:nvPr/>
        </p:nvSpPr>
        <p:spPr>
          <a:xfrm>
            <a:off x="1874520" y="1965960"/>
            <a:ext cx="411480" cy="0"/>
          </a:xfrm>
          <a:prstGeom prst="line">
            <a:avLst/>
          </a:prstGeom>
          <a:noFill/>
          <a:ln w="19050">
            <a:solidFill>
              <a:srgbClr val="5C6B62"/>
            </a:solidFill>
            <a:prstDash val="solid"/>
            <a:tailEnd type="triangle"/>
          </a:ln>
        </p:spPr>
      </p:sp>
      <p:sp>
        <p:nvSpPr>
          <p:cNvPr id="11" name="Shape 8"/>
          <p:cNvSpPr/>
          <p:nvPr/>
        </p:nvSpPr>
        <p:spPr>
          <a:xfrm>
            <a:off x="2331720" y="1645920"/>
            <a:ext cx="1371600" cy="640080"/>
          </a:xfrm>
          <a:prstGeom prst="rect">
            <a:avLst/>
          </a:prstGeom>
          <a:solidFill>
            <a:srgbClr val="EEEFE7"/>
          </a:solidFill>
          <a:ln w="12700">
            <a:solidFill>
              <a:srgbClr val="EEEFE7"/>
            </a:solidFill>
            <a:prstDash val="solid"/>
          </a:ln>
        </p:spPr>
      </p:sp>
      <p:sp>
        <p:nvSpPr>
          <p:cNvPr id="12" name="Text 9"/>
          <p:cNvSpPr txBox="1"/>
          <p:nvPr/>
        </p:nvSpPr>
        <p:spPr>
          <a:xfrm>
            <a:off x="2331720" y="1645920"/>
            <a:ext cx="1371600" cy="640080"/>
          </a:xfrm>
          <a:prstGeom prst="rect">
            <a:avLst/>
          </a:prstGeom>
          <a:noFill/>
          <a:ln/>
        </p:spPr>
        <p:txBody>
          <a:bodyPr wrap="square" lIns="63500" tIns="63500" rIns="63500" bIns="63500" rtlCol="0" anchor="ctr"/>
          <a:lstStyle/>
          <a:p>
            <a:pPr marL="0" indent="0" algn="ctr">
              <a:buNone/>
            </a:pPr>
            <a:r>
              <a:rPr lang="en-US" sz="1300" dirty="0">
                <a:solidFill>
                  <a:srgbClr val="12291F"/>
                </a:solidFill>
                <a:latin typeface="Times New Roman" panose="02020603050405020304" pitchFamily="18" charset="0"/>
                <a:ea typeface="Calibri" pitchFamily="34" charset="-122"/>
                <a:cs typeface="Times New Roman" panose="02020603050405020304" pitchFamily="18" charset="0"/>
              </a:rPr>
              <a:t>True / False?</a:t>
            </a:r>
            <a:endParaRPr lang="en-US" sz="1300" dirty="0">
              <a:latin typeface="Times New Roman" panose="02020603050405020304" pitchFamily="18" charset="0"/>
              <a:cs typeface="Times New Roman" panose="02020603050405020304" pitchFamily="18" charset="0"/>
            </a:endParaRPr>
          </a:p>
        </p:txBody>
      </p:sp>
      <p:sp>
        <p:nvSpPr>
          <p:cNvPr id="13" name="Text 10"/>
          <p:cNvSpPr txBox="1"/>
          <p:nvPr/>
        </p:nvSpPr>
        <p:spPr>
          <a:xfrm>
            <a:off x="457200" y="2377440"/>
            <a:ext cx="3291840" cy="457200"/>
          </a:xfrm>
          <a:prstGeom prst="rect">
            <a:avLst/>
          </a:prstGeom>
          <a:noFill/>
          <a:ln/>
        </p:spPr>
        <p:txBody>
          <a:bodyPr wrap="square" lIns="0" tIns="0" rIns="0" bIns="0" rtlCol="0" anchor="t"/>
          <a:lstStyle/>
          <a:p>
            <a:pPr marL="0" indent="0">
              <a:buNone/>
            </a:pPr>
            <a:r>
              <a:rPr lang="en-US" sz="1200" dirty="0">
                <a:solidFill>
                  <a:srgbClr val="5C6B62"/>
                </a:solidFill>
                <a:latin typeface="Times New Roman" panose="02020603050405020304" pitchFamily="18" charset="0"/>
                <a:ea typeface="Calibri" pitchFamily="34" charset="-122"/>
                <a:cs typeface="Times New Roman" panose="02020603050405020304" pitchFamily="18" charset="0"/>
              </a:rPr>
              <a:t>One label for the whole answer. You cannot tell which sentence is wrong.</a:t>
            </a:r>
            <a:endParaRPr lang="en-US" sz="1200" dirty="0">
              <a:latin typeface="Times New Roman" panose="02020603050405020304" pitchFamily="18" charset="0"/>
              <a:cs typeface="Times New Roman" panose="02020603050405020304" pitchFamily="18" charset="0"/>
            </a:endParaRPr>
          </a:p>
        </p:txBody>
      </p:sp>
      <p:sp>
        <p:nvSpPr>
          <p:cNvPr id="14" name="Text 11"/>
          <p:cNvSpPr txBox="1"/>
          <p:nvPr/>
        </p:nvSpPr>
        <p:spPr>
          <a:xfrm>
            <a:off x="6172200" y="1223336"/>
            <a:ext cx="2743200" cy="201168"/>
          </a:xfrm>
          <a:prstGeom prst="rect">
            <a:avLst/>
          </a:prstGeom>
          <a:noFill/>
          <a:ln/>
        </p:spPr>
        <p:txBody>
          <a:bodyPr wrap="square" lIns="0" tIns="0" rIns="0" bIns="0" rtlCol="0" anchor="t"/>
          <a:lstStyle/>
          <a:p>
            <a:pPr marL="0" indent="0">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CLAIMAI</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16" name="Text 13"/>
          <p:cNvSpPr txBox="1"/>
          <p:nvPr/>
        </p:nvSpPr>
        <p:spPr>
          <a:xfrm>
            <a:off x="4709160" y="1774589"/>
            <a:ext cx="1188720" cy="640080"/>
          </a:xfrm>
          <a:prstGeom prst="rect">
            <a:avLst/>
          </a:prstGeom>
          <a:noFill/>
          <a:ln/>
        </p:spPr>
        <p:txBody>
          <a:bodyPr wrap="square" lIns="63500" tIns="63500" rIns="63500" bIns="63500" rtlCol="0" anchor="ctr"/>
          <a:lstStyle/>
          <a:p>
            <a:pPr marL="0" indent="0" algn="ctr">
              <a:buNone/>
            </a:pPr>
            <a:r>
              <a:rPr lang="en-US" sz="1300" b="1" dirty="0">
                <a:solidFill>
                  <a:schemeClr val="bg1"/>
                </a:solidFill>
                <a:latin typeface="Times New Roman" panose="02020603050405020304" pitchFamily="18" charset="0"/>
                <a:ea typeface="Calibri" pitchFamily="34" charset="-122"/>
                <a:cs typeface="Times New Roman" panose="02020603050405020304" pitchFamily="18" charset="0"/>
              </a:rPr>
              <a:t>Answer</a:t>
            </a:r>
            <a:endParaRPr lang="en-US" sz="1300" dirty="0">
              <a:solidFill>
                <a:schemeClr val="bg1"/>
              </a:solidFill>
              <a:latin typeface="Times New Roman" panose="02020603050405020304" pitchFamily="18" charset="0"/>
              <a:cs typeface="Times New Roman" panose="02020603050405020304" pitchFamily="18" charset="0"/>
            </a:endParaRPr>
          </a:p>
        </p:txBody>
      </p:sp>
      <p:sp>
        <p:nvSpPr>
          <p:cNvPr id="17" name="Shape 14"/>
          <p:cNvSpPr/>
          <p:nvPr/>
        </p:nvSpPr>
        <p:spPr>
          <a:xfrm flipV="1">
            <a:off x="5623560" y="1737360"/>
            <a:ext cx="457200" cy="365760"/>
          </a:xfrm>
          <a:prstGeom prst="line">
            <a:avLst/>
          </a:prstGeom>
          <a:noFill/>
          <a:ln w="19050">
            <a:solidFill>
              <a:srgbClr val="5C6B62"/>
            </a:solidFill>
            <a:prstDash val="solid"/>
            <a:tailEnd type="triangle"/>
          </a:ln>
        </p:spPr>
      </p:sp>
      <p:sp>
        <p:nvSpPr>
          <p:cNvPr id="18" name="Shape 15"/>
          <p:cNvSpPr/>
          <p:nvPr/>
        </p:nvSpPr>
        <p:spPr>
          <a:xfrm>
            <a:off x="6126480" y="1554480"/>
            <a:ext cx="1097280" cy="365760"/>
          </a:xfrm>
          <a:prstGeom prst="rect">
            <a:avLst/>
          </a:prstGeom>
          <a:solidFill>
            <a:srgbClr val="FFFFFF"/>
          </a:solidFill>
          <a:ln w="12700">
            <a:solidFill>
              <a:srgbClr val="B9C2BB"/>
            </a:solidFill>
            <a:prstDash val="solid"/>
          </a:ln>
        </p:spPr>
      </p:sp>
      <p:sp>
        <p:nvSpPr>
          <p:cNvPr id="19" name="Text 16"/>
          <p:cNvSpPr txBox="1"/>
          <p:nvPr/>
        </p:nvSpPr>
        <p:spPr>
          <a:xfrm>
            <a:off x="6126480" y="1554480"/>
            <a:ext cx="1097280" cy="365760"/>
          </a:xfrm>
          <a:prstGeom prst="rect">
            <a:avLst/>
          </a:prstGeom>
          <a:noFill/>
          <a:ln/>
        </p:spPr>
        <p:txBody>
          <a:bodyPr wrap="square" lIns="63500" tIns="63500" rIns="63500" bIns="63500" rtlCol="0" anchor="ctr"/>
          <a:lstStyle/>
          <a:p>
            <a:pPr marL="0" indent="0" algn="ctr">
              <a:buNone/>
            </a:pPr>
            <a:r>
              <a:rPr lang="en-US" sz="1200" dirty="0">
                <a:solidFill>
                  <a:srgbClr val="12291F"/>
                </a:solidFill>
                <a:latin typeface="Times New Roman" panose="02020603050405020304" pitchFamily="18" charset="0"/>
                <a:ea typeface="Calibri" pitchFamily="34" charset="-122"/>
                <a:cs typeface="Times New Roman" panose="02020603050405020304" pitchFamily="18" charset="0"/>
              </a:rPr>
              <a:t>Claim 1</a:t>
            </a:r>
            <a:endParaRPr lang="en-US" sz="1200" dirty="0">
              <a:latin typeface="Times New Roman" panose="02020603050405020304" pitchFamily="18" charset="0"/>
              <a:cs typeface="Times New Roman" panose="02020603050405020304" pitchFamily="18" charset="0"/>
            </a:endParaRPr>
          </a:p>
        </p:txBody>
      </p:sp>
      <p:sp>
        <p:nvSpPr>
          <p:cNvPr id="20" name="Shape 17"/>
          <p:cNvSpPr/>
          <p:nvPr/>
        </p:nvSpPr>
        <p:spPr>
          <a:xfrm>
            <a:off x="7315200" y="1600200"/>
            <a:ext cx="1188720" cy="274320"/>
          </a:xfrm>
          <a:prstGeom prst="roundRect">
            <a:avLst>
              <a:gd name="adj" fmla="val 26667"/>
            </a:avLst>
          </a:prstGeom>
          <a:solidFill>
            <a:srgbClr val="1E5A40"/>
          </a:solidFill>
          <a:ln w="15875">
            <a:solidFill>
              <a:srgbClr val="1E5A40"/>
            </a:solidFill>
            <a:prstDash val="solid"/>
          </a:ln>
        </p:spPr>
      </p:sp>
      <p:sp>
        <p:nvSpPr>
          <p:cNvPr id="21" name="Text 18"/>
          <p:cNvSpPr txBox="1"/>
          <p:nvPr/>
        </p:nvSpPr>
        <p:spPr>
          <a:xfrm>
            <a:off x="7315200" y="1600200"/>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Supported</a:t>
            </a:r>
            <a:endParaRPr lang="en-US" sz="1100" dirty="0">
              <a:latin typeface="Times New Roman" panose="02020603050405020304" pitchFamily="18" charset="0"/>
              <a:cs typeface="Times New Roman" panose="02020603050405020304" pitchFamily="18" charset="0"/>
            </a:endParaRPr>
          </a:p>
        </p:txBody>
      </p:sp>
      <p:sp>
        <p:nvSpPr>
          <p:cNvPr id="22" name="Shape 19"/>
          <p:cNvSpPr/>
          <p:nvPr/>
        </p:nvSpPr>
        <p:spPr>
          <a:xfrm>
            <a:off x="5623560" y="2103120"/>
            <a:ext cx="457200" cy="137160"/>
          </a:xfrm>
          <a:prstGeom prst="line">
            <a:avLst/>
          </a:prstGeom>
          <a:noFill/>
          <a:ln w="19050">
            <a:solidFill>
              <a:srgbClr val="5C6B62"/>
            </a:solidFill>
            <a:prstDash val="solid"/>
            <a:tailEnd type="triangle"/>
          </a:ln>
        </p:spPr>
      </p:sp>
      <p:sp>
        <p:nvSpPr>
          <p:cNvPr id="23" name="Shape 20"/>
          <p:cNvSpPr/>
          <p:nvPr/>
        </p:nvSpPr>
        <p:spPr>
          <a:xfrm>
            <a:off x="6126480" y="2057400"/>
            <a:ext cx="1097280" cy="365760"/>
          </a:xfrm>
          <a:prstGeom prst="rect">
            <a:avLst/>
          </a:prstGeom>
          <a:solidFill>
            <a:srgbClr val="FFFFFF"/>
          </a:solidFill>
          <a:ln w="12700">
            <a:solidFill>
              <a:srgbClr val="B9C2BB"/>
            </a:solidFill>
            <a:prstDash val="solid"/>
          </a:ln>
        </p:spPr>
      </p:sp>
      <p:sp>
        <p:nvSpPr>
          <p:cNvPr id="24" name="Text 21"/>
          <p:cNvSpPr txBox="1"/>
          <p:nvPr/>
        </p:nvSpPr>
        <p:spPr>
          <a:xfrm>
            <a:off x="6126480" y="2057400"/>
            <a:ext cx="1097280" cy="365760"/>
          </a:xfrm>
          <a:prstGeom prst="rect">
            <a:avLst/>
          </a:prstGeom>
          <a:noFill/>
          <a:ln/>
        </p:spPr>
        <p:txBody>
          <a:bodyPr wrap="square" lIns="63500" tIns="63500" rIns="63500" bIns="63500" rtlCol="0" anchor="ctr"/>
          <a:lstStyle/>
          <a:p>
            <a:pPr marL="0" indent="0" algn="ctr">
              <a:buNone/>
            </a:pPr>
            <a:r>
              <a:rPr lang="en-US" sz="1200" dirty="0">
                <a:solidFill>
                  <a:srgbClr val="12291F"/>
                </a:solidFill>
                <a:latin typeface="Times New Roman" panose="02020603050405020304" pitchFamily="18" charset="0"/>
                <a:ea typeface="Calibri" pitchFamily="34" charset="-122"/>
                <a:cs typeface="Times New Roman" panose="02020603050405020304" pitchFamily="18" charset="0"/>
              </a:rPr>
              <a:t>Claim 2</a:t>
            </a:r>
            <a:endParaRPr lang="en-US" sz="1200" dirty="0">
              <a:latin typeface="Times New Roman" panose="02020603050405020304" pitchFamily="18" charset="0"/>
              <a:cs typeface="Times New Roman" panose="02020603050405020304" pitchFamily="18" charset="0"/>
            </a:endParaRPr>
          </a:p>
        </p:txBody>
      </p:sp>
      <p:sp>
        <p:nvSpPr>
          <p:cNvPr id="25" name="Shape 22"/>
          <p:cNvSpPr/>
          <p:nvPr/>
        </p:nvSpPr>
        <p:spPr>
          <a:xfrm>
            <a:off x="7315200" y="2103120"/>
            <a:ext cx="1188720" cy="274320"/>
          </a:xfrm>
          <a:prstGeom prst="roundRect">
            <a:avLst>
              <a:gd name="adj" fmla="val 26667"/>
            </a:avLst>
          </a:prstGeom>
          <a:solidFill>
            <a:srgbClr val="1E5A40"/>
          </a:solidFill>
          <a:ln w="15875">
            <a:solidFill>
              <a:srgbClr val="1E5A40"/>
            </a:solidFill>
            <a:prstDash val="solid"/>
          </a:ln>
        </p:spPr>
      </p:sp>
      <p:sp>
        <p:nvSpPr>
          <p:cNvPr id="26" name="Text 23"/>
          <p:cNvSpPr txBox="1"/>
          <p:nvPr/>
        </p:nvSpPr>
        <p:spPr>
          <a:xfrm>
            <a:off x="7315200" y="2103120"/>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Times New Roman" panose="02020603050405020304" pitchFamily="18" charset="0"/>
                <a:ea typeface="Calibri" pitchFamily="34" charset="-122"/>
                <a:cs typeface="Times New Roman" panose="02020603050405020304" pitchFamily="18" charset="0"/>
              </a:rPr>
              <a:t>Supported</a:t>
            </a:r>
            <a:endParaRPr lang="en-US" sz="1100" dirty="0">
              <a:latin typeface="Times New Roman" panose="02020603050405020304" pitchFamily="18" charset="0"/>
              <a:cs typeface="Times New Roman" panose="02020603050405020304" pitchFamily="18" charset="0"/>
            </a:endParaRPr>
          </a:p>
        </p:txBody>
      </p:sp>
      <p:sp>
        <p:nvSpPr>
          <p:cNvPr id="27" name="Shape 24"/>
          <p:cNvSpPr/>
          <p:nvPr/>
        </p:nvSpPr>
        <p:spPr>
          <a:xfrm>
            <a:off x="5623560" y="2103120"/>
            <a:ext cx="457200" cy="640080"/>
          </a:xfrm>
          <a:prstGeom prst="line">
            <a:avLst/>
          </a:prstGeom>
          <a:noFill/>
          <a:ln w="19050">
            <a:solidFill>
              <a:srgbClr val="5C6B62"/>
            </a:solidFill>
            <a:prstDash val="solid"/>
            <a:tailEnd type="triangle"/>
          </a:ln>
        </p:spPr>
      </p:sp>
      <p:sp>
        <p:nvSpPr>
          <p:cNvPr id="28" name="Shape 25"/>
          <p:cNvSpPr/>
          <p:nvPr/>
        </p:nvSpPr>
        <p:spPr>
          <a:xfrm>
            <a:off x="6126480" y="2560320"/>
            <a:ext cx="1097280" cy="365760"/>
          </a:xfrm>
          <a:prstGeom prst="rect">
            <a:avLst/>
          </a:prstGeom>
          <a:solidFill>
            <a:srgbClr val="FFFFFF"/>
          </a:solidFill>
          <a:ln w="12700">
            <a:solidFill>
              <a:srgbClr val="B9C2BB"/>
            </a:solidFill>
            <a:prstDash val="solid"/>
          </a:ln>
        </p:spPr>
      </p:sp>
      <p:sp>
        <p:nvSpPr>
          <p:cNvPr id="29" name="Text 26"/>
          <p:cNvSpPr txBox="1"/>
          <p:nvPr/>
        </p:nvSpPr>
        <p:spPr>
          <a:xfrm>
            <a:off x="6126480" y="2560320"/>
            <a:ext cx="1097280" cy="365760"/>
          </a:xfrm>
          <a:prstGeom prst="rect">
            <a:avLst/>
          </a:prstGeom>
          <a:noFill/>
          <a:ln/>
        </p:spPr>
        <p:txBody>
          <a:bodyPr wrap="square" lIns="63500" tIns="63500" rIns="63500" bIns="63500" rtlCol="0" anchor="ctr"/>
          <a:lstStyle/>
          <a:p>
            <a:pPr marL="0" indent="0" algn="ctr">
              <a:buNone/>
            </a:pPr>
            <a:r>
              <a:rPr lang="en-US" sz="1200" dirty="0">
                <a:solidFill>
                  <a:srgbClr val="12291F"/>
                </a:solidFill>
                <a:latin typeface="Times New Roman" panose="02020603050405020304" pitchFamily="18" charset="0"/>
                <a:ea typeface="Calibri" pitchFamily="34" charset="-122"/>
                <a:cs typeface="Times New Roman" panose="02020603050405020304" pitchFamily="18" charset="0"/>
              </a:rPr>
              <a:t>Claim 3</a:t>
            </a:r>
            <a:endParaRPr lang="en-US" sz="1200" dirty="0">
              <a:latin typeface="Times New Roman" panose="02020603050405020304" pitchFamily="18" charset="0"/>
              <a:cs typeface="Times New Roman" panose="02020603050405020304" pitchFamily="18" charset="0"/>
            </a:endParaRPr>
          </a:p>
        </p:txBody>
      </p:sp>
      <p:sp>
        <p:nvSpPr>
          <p:cNvPr id="30" name="Shape 27"/>
          <p:cNvSpPr/>
          <p:nvPr/>
        </p:nvSpPr>
        <p:spPr>
          <a:xfrm>
            <a:off x="7315200" y="2606040"/>
            <a:ext cx="1188720" cy="274320"/>
          </a:xfrm>
          <a:prstGeom prst="roundRect">
            <a:avLst>
              <a:gd name="adj" fmla="val 26667"/>
            </a:avLst>
          </a:prstGeom>
          <a:solidFill>
            <a:srgbClr val="F59A0E"/>
          </a:solidFill>
          <a:ln w="15875">
            <a:solidFill>
              <a:srgbClr val="F59A0E"/>
            </a:solidFill>
            <a:prstDash val="solid"/>
          </a:ln>
        </p:spPr>
      </p:sp>
      <p:sp>
        <p:nvSpPr>
          <p:cNvPr id="31" name="Text 28"/>
          <p:cNvSpPr txBox="1"/>
          <p:nvPr/>
        </p:nvSpPr>
        <p:spPr>
          <a:xfrm>
            <a:off x="7315200" y="2606040"/>
            <a:ext cx="1188720" cy="274320"/>
          </a:xfrm>
          <a:prstGeom prst="rect">
            <a:avLst/>
          </a:prstGeom>
          <a:noFill/>
          <a:ln/>
        </p:spPr>
        <p:txBody>
          <a:bodyPr wrap="square" lIns="0" tIns="0" rIns="0" bIns="0" rtlCol="0" anchor="ctr"/>
          <a:lstStyle/>
          <a:p>
            <a:pPr marL="0" indent="0" algn="ctr">
              <a:buNone/>
            </a:pPr>
            <a:r>
              <a:rPr lang="en-US" sz="1100" b="1" dirty="0">
                <a:solidFill>
                  <a:srgbClr val="12291F"/>
                </a:solidFill>
                <a:latin typeface="Times New Roman" panose="02020603050405020304" pitchFamily="18" charset="0"/>
                <a:ea typeface="Calibri" pitchFamily="34" charset="-122"/>
                <a:cs typeface="Times New Roman" panose="02020603050405020304" pitchFamily="18" charset="0"/>
              </a:rPr>
              <a:t>Refuted</a:t>
            </a:r>
            <a:endParaRPr lang="en-US" sz="1100" dirty="0">
              <a:latin typeface="Times New Roman" panose="02020603050405020304" pitchFamily="18" charset="0"/>
              <a:cs typeface="Times New Roman" panose="02020603050405020304" pitchFamily="18" charset="0"/>
            </a:endParaRPr>
          </a:p>
        </p:txBody>
      </p:sp>
      <p:sp>
        <p:nvSpPr>
          <p:cNvPr id="32" name="Text 29"/>
          <p:cNvSpPr txBox="1"/>
          <p:nvPr/>
        </p:nvSpPr>
        <p:spPr>
          <a:xfrm>
            <a:off x="457200" y="3017520"/>
            <a:ext cx="3657600" cy="201168"/>
          </a:xfrm>
          <a:prstGeom prst="rect">
            <a:avLst/>
          </a:prstGeom>
          <a:noFill/>
          <a:ln/>
        </p:spPr>
        <p:txBody>
          <a:bodyPr wrap="square" lIns="0" tIns="0" rIns="0" bIns="0" rtlCol="0" anchor="t"/>
          <a:lstStyle/>
          <a:p>
            <a:pPr marL="0" indent="0">
              <a:buNone/>
            </a:pPr>
            <a:r>
              <a:rPr lang="en-US" sz="1000" b="1" dirty="0">
                <a:solidFill>
                  <a:srgbClr val="5C6B62"/>
                </a:solidFill>
                <a:latin typeface="Times New Roman" panose="02020603050405020304" pitchFamily="18" charset="0"/>
                <a:ea typeface="Calibri" pitchFamily="34" charset="-122"/>
                <a:cs typeface="Times New Roman" panose="02020603050405020304" pitchFamily="18" charset="0"/>
              </a:rPr>
              <a:t>THREE POSSIBLE RESULTS</a:t>
            </a:r>
            <a:endParaRPr lang="en-US" sz="1000" dirty="0">
              <a:latin typeface="Times New Roman" panose="02020603050405020304" pitchFamily="18" charset="0"/>
              <a:cs typeface="Times New Roman" panose="02020603050405020304" pitchFamily="18" charset="0"/>
            </a:endParaRPr>
          </a:p>
        </p:txBody>
      </p:sp>
      <p:sp>
        <p:nvSpPr>
          <p:cNvPr id="33" name="Shape 30"/>
          <p:cNvSpPr/>
          <p:nvPr/>
        </p:nvSpPr>
        <p:spPr>
          <a:xfrm>
            <a:off x="457200" y="3297718"/>
            <a:ext cx="2651760" cy="1325880"/>
          </a:xfrm>
          <a:prstGeom prst="rect">
            <a:avLst/>
          </a:prstGeom>
          <a:solidFill>
            <a:srgbClr val="EEEFE7"/>
          </a:solidFill>
          <a:ln w="12700">
            <a:solidFill>
              <a:srgbClr val="EEEFE7"/>
            </a:solidFill>
            <a:prstDash val="solid"/>
          </a:ln>
        </p:spPr>
      </p:sp>
      <p:sp>
        <p:nvSpPr>
          <p:cNvPr id="35" name="Text 32"/>
          <p:cNvSpPr txBox="1"/>
          <p:nvPr/>
        </p:nvSpPr>
        <p:spPr>
          <a:xfrm>
            <a:off x="1097280" y="3323844"/>
            <a:ext cx="1188720" cy="274320"/>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Supported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36" name="Text 33"/>
          <p:cNvSpPr txBox="1"/>
          <p:nvPr/>
        </p:nvSpPr>
        <p:spPr>
          <a:xfrm>
            <a:off x="594360" y="3794760"/>
            <a:ext cx="2377440" cy="7772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Reliable sources found online agree with the claim, so it can be kept as it is.</a:t>
            </a:r>
            <a:endParaRPr lang="en-US" sz="1300" dirty="0"/>
          </a:p>
        </p:txBody>
      </p:sp>
      <p:sp>
        <p:nvSpPr>
          <p:cNvPr id="37" name="Shape 34"/>
          <p:cNvSpPr/>
          <p:nvPr/>
        </p:nvSpPr>
        <p:spPr>
          <a:xfrm>
            <a:off x="3246120" y="3291840"/>
            <a:ext cx="2651760" cy="1325880"/>
          </a:xfrm>
          <a:prstGeom prst="rect">
            <a:avLst/>
          </a:prstGeom>
          <a:solidFill>
            <a:srgbClr val="EEEFE7"/>
          </a:solidFill>
          <a:ln w="12700">
            <a:solidFill>
              <a:srgbClr val="EEEFE7"/>
            </a:solidFill>
            <a:prstDash val="solid"/>
          </a:ln>
        </p:spPr>
      </p:sp>
      <p:sp>
        <p:nvSpPr>
          <p:cNvPr id="39" name="Text 36"/>
          <p:cNvSpPr txBox="1"/>
          <p:nvPr/>
        </p:nvSpPr>
        <p:spPr>
          <a:xfrm>
            <a:off x="3833949" y="3401568"/>
            <a:ext cx="1188720" cy="274320"/>
          </a:xfrm>
          <a:prstGeom prst="rect">
            <a:avLst/>
          </a:prstGeom>
          <a:noFill/>
          <a:ln/>
        </p:spPr>
        <p:txBody>
          <a:bodyPr wrap="square" lIns="0" tIns="0" rIns="0" bIns="0" rtlCol="0" anchor="ctr"/>
          <a:lstStyle/>
          <a:p>
            <a:pPr marL="0" indent="0" algn="ctr">
              <a:buNone/>
            </a:pPr>
            <a:r>
              <a:rPr lang="en-US" sz="1100" b="1" dirty="0">
                <a:solidFill>
                  <a:srgbClr val="12291F"/>
                </a:solidFill>
                <a:latin typeface="Times New Roman" panose="02020603050405020304" pitchFamily="18" charset="0"/>
                <a:ea typeface="Calibri" pitchFamily="34" charset="-122"/>
                <a:cs typeface="Times New Roman" panose="02020603050405020304" pitchFamily="18" charset="0"/>
              </a:rPr>
              <a:t>Refuted</a:t>
            </a:r>
            <a:endParaRPr lang="en-US" sz="1100" dirty="0">
              <a:latin typeface="Times New Roman" panose="02020603050405020304" pitchFamily="18" charset="0"/>
              <a:cs typeface="Times New Roman" panose="02020603050405020304" pitchFamily="18" charset="0"/>
            </a:endParaRPr>
          </a:p>
        </p:txBody>
      </p:sp>
      <p:sp>
        <p:nvSpPr>
          <p:cNvPr id="40" name="Text 37"/>
          <p:cNvSpPr txBox="1"/>
          <p:nvPr/>
        </p:nvSpPr>
        <p:spPr>
          <a:xfrm>
            <a:off x="3383280" y="3794760"/>
            <a:ext cx="2377440" cy="7772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Sources directly contradict the claim, so this is the exact statement that needs to be corrected.</a:t>
            </a:r>
            <a:endParaRPr lang="en-US" sz="1300" dirty="0"/>
          </a:p>
        </p:txBody>
      </p:sp>
      <p:sp>
        <p:nvSpPr>
          <p:cNvPr id="41" name="Shape 38"/>
          <p:cNvSpPr/>
          <p:nvPr/>
        </p:nvSpPr>
        <p:spPr>
          <a:xfrm>
            <a:off x="6035040" y="3291840"/>
            <a:ext cx="2651760" cy="1325880"/>
          </a:xfrm>
          <a:prstGeom prst="rect">
            <a:avLst/>
          </a:prstGeom>
          <a:solidFill>
            <a:srgbClr val="EEEFE7"/>
          </a:solidFill>
          <a:ln w="12700">
            <a:solidFill>
              <a:srgbClr val="EEEFE7"/>
            </a:solidFill>
            <a:prstDash val="solid"/>
          </a:ln>
        </p:spPr>
      </p:sp>
      <p:sp>
        <p:nvSpPr>
          <p:cNvPr id="43" name="Text 40"/>
          <p:cNvSpPr txBox="1"/>
          <p:nvPr/>
        </p:nvSpPr>
        <p:spPr>
          <a:xfrm>
            <a:off x="6766560" y="3337560"/>
            <a:ext cx="1188720" cy="274320"/>
          </a:xfrm>
          <a:prstGeom prst="rect">
            <a:avLst/>
          </a:prstGeom>
          <a:noFill/>
          <a:ln/>
        </p:spPr>
        <p:txBody>
          <a:bodyPr wrap="square" lIns="0" tIns="0" rIns="0" bIns="0" rtlCol="0" anchor="ctr"/>
          <a:lstStyle/>
          <a:p>
            <a:pPr marL="0" indent="0" algn="ctr">
              <a:buNone/>
            </a:pPr>
            <a:r>
              <a:rPr lang="en-US" sz="1100" b="1" dirty="0">
                <a:solidFill>
                  <a:schemeClr val="bg1"/>
                </a:solidFill>
                <a:latin typeface="Times New Roman" panose="02020603050405020304" pitchFamily="18" charset="0"/>
                <a:ea typeface="Calibri" pitchFamily="34" charset="-122"/>
                <a:cs typeface="Times New Roman" panose="02020603050405020304" pitchFamily="18" charset="0"/>
              </a:rPr>
              <a:t>Unresolved</a:t>
            </a:r>
            <a:endParaRPr lang="en-US" sz="1100" dirty="0">
              <a:solidFill>
                <a:schemeClr val="bg1"/>
              </a:solidFill>
              <a:latin typeface="Times New Roman" panose="02020603050405020304" pitchFamily="18" charset="0"/>
              <a:cs typeface="Times New Roman" panose="02020603050405020304" pitchFamily="18" charset="0"/>
            </a:endParaRPr>
          </a:p>
        </p:txBody>
      </p:sp>
      <p:sp>
        <p:nvSpPr>
          <p:cNvPr id="44" name="Text 41"/>
          <p:cNvSpPr txBox="1"/>
          <p:nvPr/>
        </p:nvSpPr>
        <p:spPr>
          <a:xfrm>
            <a:off x="6172200" y="3794760"/>
            <a:ext cx="2377440" cy="7772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Evidence conflicts or stays thin even after retries. Shown honestly as open, not guessed.</a:t>
            </a:r>
            <a:endParaRPr lang="en-US" sz="1300" dirty="0"/>
          </a:p>
        </p:txBody>
      </p:sp>
      <p:cxnSp>
        <p:nvCxnSpPr>
          <p:cNvPr id="46" name="Straight Connector 45">
            <a:extLst>
              <a:ext uri="{FF2B5EF4-FFF2-40B4-BE49-F238E27FC236}">
                <a16:creationId xmlns:a16="http://schemas.microsoft.com/office/drawing/2014/main" id="{72387901-A654-D673-EF0F-1BD1E8FE02E8}"/>
              </a:ext>
            </a:extLst>
          </p:cNvPr>
          <p:cNvCxnSpPr/>
          <p:nvPr/>
        </p:nvCxnSpPr>
        <p:spPr>
          <a:xfrm>
            <a:off x="4572000" y="1314776"/>
            <a:ext cx="0" cy="1702744"/>
          </a:xfrm>
          <a:prstGeom prst="line">
            <a:avLst/>
          </a:prstGeom>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AF9F4"/>
        </a:solidFill>
        <a:effectLst/>
      </p:bgPr>
    </p:bg>
    <p:spTree>
      <p:nvGrpSpPr>
        <p:cNvPr id="1" name=""/>
        <p:cNvGrpSpPr/>
        <p:nvPr/>
      </p:nvGrpSpPr>
      <p:grpSpPr>
        <a:xfrm>
          <a:off x="0" y="0"/>
          <a:ext cx="0" cy="0"/>
          <a:chOff x="0" y="0"/>
          <a:chExt cx="0" cy="0"/>
        </a:xfrm>
      </p:grpSpPr>
      <p:pic>
        <p:nvPicPr>
          <p:cNvPr id="37" name="Picture 36">
            <a:extLst>
              <a:ext uri="{FF2B5EF4-FFF2-40B4-BE49-F238E27FC236}">
                <a16:creationId xmlns:a16="http://schemas.microsoft.com/office/drawing/2014/main" id="{C1AD3E91-4B9E-1129-A681-57B20B011E0F}"/>
              </a:ext>
            </a:extLst>
          </p:cNvPr>
          <p:cNvPicPr>
            <a:picLocks noChangeAspect="1"/>
          </p:cNvPicPr>
          <p:nvPr/>
        </p:nvPicPr>
        <p:blipFill>
          <a:blip r:embed="rId3"/>
          <a:stretch>
            <a:fillRect/>
          </a:stretch>
        </p:blipFill>
        <p:spPr>
          <a:xfrm>
            <a:off x="2429" y="0"/>
            <a:ext cx="9139141" cy="51435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AF9F4"/>
        </a:solidFill>
        <a:effectLst/>
      </p:bgPr>
    </p:bg>
    <p:spTree>
      <p:nvGrpSpPr>
        <p:cNvPr id="1" name=""/>
        <p:cNvGrpSpPr/>
        <p:nvPr/>
      </p:nvGrpSpPr>
      <p:grpSpPr>
        <a:xfrm>
          <a:off x="0" y="0"/>
          <a:ext cx="0" cy="0"/>
          <a:chOff x="0" y="0"/>
          <a:chExt cx="0" cy="0"/>
        </a:xfrm>
      </p:grpSpPr>
      <p:pic>
        <p:nvPicPr>
          <p:cNvPr id="43" name="Picture 42">
            <a:extLst>
              <a:ext uri="{FF2B5EF4-FFF2-40B4-BE49-F238E27FC236}">
                <a16:creationId xmlns:a16="http://schemas.microsoft.com/office/drawing/2014/main" id="{4D37075E-2BEF-BAAC-C6CF-7BA8446BFD14}"/>
              </a:ext>
            </a:extLst>
          </p:cNvPr>
          <p:cNvPicPr>
            <a:picLocks noChangeAspect="1"/>
          </p:cNvPicPr>
          <p:nvPr/>
        </p:nvPicPr>
        <p:blipFill>
          <a:blip r:embed="rId3"/>
          <a:stretch>
            <a:fillRect/>
          </a:stretch>
        </p:blipFill>
        <p:spPr>
          <a:xfrm>
            <a:off x="0" y="0"/>
            <a:ext cx="9139141" cy="51435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MODULE 1: CLAIM EXTRACTOR</a:t>
            </a:r>
            <a:endParaRPr lang="en-US" sz="2800" dirty="0"/>
          </a:p>
        </p:txBody>
      </p:sp>
      <p:sp>
        <p:nvSpPr>
          <p:cNvPr id="3" name="Text 1"/>
          <p:cNvSpPr txBox="1"/>
          <p:nvPr/>
        </p:nvSpPr>
        <p:spPr>
          <a:xfrm>
            <a:off x="457200" y="713232"/>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Turning messy text into testable claims.</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6</a:t>
            </a:r>
            <a:endParaRPr lang="en-US" sz="1000" dirty="0"/>
          </a:p>
        </p:txBody>
      </p:sp>
      <p:sp>
        <p:nvSpPr>
          <p:cNvPr id="7" name="Text 4"/>
          <p:cNvSpPr txBox="1"/>
          <p:nvPr/>
        </p:nvSpPr>
        <p:spPr>
          <a:xfrm>
            <a:off x="457200" y="1371600"/>
            <a:ext cx="365760" cy="365760"/>
          </a:xfrm>
          <a:prstGeom prst="rect">
            <a:avLst/>
          </a:prstGeom>
          <a:noFill/>
          <a:ln/>
        </p:spPr>
        <p:txBody>
          <a:bodyPr wrap="square" lIns="0" tIns="0" rIns="0" bIns="0" rtlCol="0" anchor="t"/>
          <a:lstStyle/>
          <a:p>
            <a:pPr marL="0" indent="0">
              <a:buNone/>
            </a:pPr>
            <a:r>
              <a:rPr lang="en-US" sz="2200" b="1" dirty="0">
                <a:solidFill>
                  <a:srgbClr val="1E5A40"/>
                </a:solidFill>
                <a:latin typeface="Calibri" pitchFamily="34" charset="0"/>
                <a:ea typeface="Calibri" pitchFamily="34" charset="-122"/>
                <a:cs typeface="Calibri" pitchFamily="34" charset="-120"/>
              </a:rPr>
              <a:t>1</a:t>
            </a:r>
            <a:endParaRPr lang="en-US" sz="2200" dirty="0"/>
          </a:p>
        </p:txBody>
      </p:sp>
      <p:sp>
        <p:nvSpPr>
          <p:cNvPr id="8" name="Text 5"/>
          <p:cNvSpPr txBox="1"/>
          <p:nvPr/>
        </p:nvSpPr>
        <p:spPr>
          <a:xfrm>
            <a:off x="822960" y="1435608"/>
            <a:ext cx="1463040" cy="274320"/>
          </a:xfrm>
          <a:prstGeom prst="rect">
            <a:avLst/>
          </a:prstGeom>
          <a:noFill/>
          <a:ln/>
        </p:spPr>
        <p:txBody>
          <a:bodyPr wrap="square" lIns="0" tIns="0" rIns="0" bIns="0" rtlCol="0" anchor="t"/>
          <a:lstStyle/>
          <a:p>
            <a:pPr marL="0" indent="0">
              <a:buNone/>
            </a:pPr>
            <a:r>
              <a:rPr lang="en-US" sz="1600" b="1" dirty="0">
                <a:solidFill>
                  <a:srgbClr val="12291F"/>
                </a:solidFill>
                <a:latin typeface="Calibri" pitchFamily="34" charset="0"/>
                <a:ea typeface="Calibri" pitchFamily="34" charset="-122"/>
                <a:cs typeface="Calibri" pitchFamily="34" charset="-120"/>
              </a:rPr>
              <a:t>Split</a:t>
            </a:r>
            <a:endParaRPr lang="en-US" sz="1600" dirty="0"/>
          </a:p>
        </p:txBody>
      </p:sp>
      <p:sp>
        <p:nvSpPr>
          <p:cNvPr id="9" name="Text 6"/>
          <p:cNvSpPr txBox="1"/>
          <p:nvPr/>
        </p:nvSpPr>
        <p:spPr>
          <a:xfrm>
            <a:off x="457200" y="1828800"/>
            <a:ext cx="1874520" cy="10058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Break the text into sentences while keeping the surrounding context.</a:t>
            </a:r>
            <a:endParaRPr lang="en-US" sz="1300" dirty="0"/>
          </a:p>
        </p:txBody>
      </p:sp>
      <p:sp>
        <p:nvSpPr>
          <p:cNvPr id="10" name="Shape 7"/>
          <p:cNvSpPr/>
          <p:nvPr/>
        </p:nvSpPr>
        <p:spPr>
          <a:xfrm>
            <a:off x="1541417" y="1554480"/>
            <a:ext cx="842554" cy="0"/>
          </a:xfrm>
          <a:prstGeom prst="line">
            <a:avLst/>
          </a:prstGeom>
          <a:noFill/>
          <a:ln w="19050">
            <a:solidFill>
              <a:srgbClr val="B9C2BB"/>
            </a:solidFill>
            <a:prstDash val="solid"/>
            <a:tailEnd type="triangle"/>
          </a:ln>
        </p:spPr>
      </p:sp>
      <p:sp>
        <p:nvSpPr>
          <p:cNvPr id="11" name="Text 8"/>
          <p:cNvSpPr txBox="1"/>
          <p:nvPr/>
        </p:nvSpPr>
        <p:spPr>
          <a:xfrm>
            <a:off x="2560320" y="1371600"/>
            <a:ext cx="365760" cy="365760"/>
          </a:xfrm>
          <a:prstGeom prst="rect">
            <a:avLst/>
          </a:prstGeom>
          <a:noFill/>
          <a:ln/>
        </p:spPr>
        <p:txBody>
          <a:bodyPr wrap="square" lIns="0" tIns="0" rIns="0" bIns="0" rtlCol="0" anchor="t"/>
          <a:lstStyle/>
          <a:p>
            <a:pPr marL="0" indent="0">
              <a:buNone/>
            </a:pPr>
            <a:r>
              <a:rPr lang="en-US" sz="2200" b="1" dirty="0">
                <a:solidFill>
                  <a:srgbClr val="1E5A40"/>
                </a:solidFill>
                <a:latin typeface="Calibri" pitchFamily="34" charset="0"/>
                <a:ea typeface="Calibri" pitchFamily="34" charset="-122"/>
                <a:cs typeface="Calibri" pitchFamily="34" charset="-120"/>
              </a:rPr>
              <a:t>2</a:t>
            </a:r>
            <a:endParaRPr lang="en-US" sz="2200" dirty="0"/>
          </a:p>
        </p:txBody>
      </p:sp>
      <p:sp>
        <p:nvSpPr>
          <p:cNvPr id="12" name="Text 9"/>
          <p:cNvSpPr txBox="1"/>
          <p:nvPr/>
        </p:nvSpPr>
        <p:spPr>
          <a:xfrm>
            <a:off x="2926080" y="1435608"/>
            <a:ext cx="1463040" cy="274320"/>
          </a:xfrm>
          <a:prstGeom prst="rect">
            <a:avLst/>
          </a:prstGeom>
          <a:noFill/>
          <a:ln/>
        </p:spPr>
        <p:txBody>
          <a:bodyPr wrap="square" lIns="0" tIns="0" rIns="0" bIns="0" rtlCol="0" anchor="t"/>
          <a:lstStyle/>
          <a:p>
            <a:pPr marL="0" indent="0">
              <a:buNone/>
            </a:pPr>
            <a:r>
              <a:rPr lang="en-US" sz="1600" b="1" dirty="0">
                <a:solidFill>
                  <a:srgbClr val="12291F"/>
                </a:solidFill>
                <a:latin typeface="Calibri" pitchFamily="34" charset="0"/>
                <a:ea typeface="Calibri" pitchFamily="34" charset="-122"/>
                <a:cs typeface="Calibri" pitchFamily="34" charset="-120"/>
              </a:rPr>
              <a:t>Select</a:t>
            </a:r>
            <a:endParaRPr lang="en-US" sz="1600" dirty="0"/>
          </a:p>
        </p:txBody>
      </p:sp>
      <p:sp>
        <p:nvSpPr>
          <p:cNvPr id="13" name="Text 10"/>
          <p:cNvSpPr txBox="1"/>
          <p:nvPr/>
        </p:nvSpPr>
        <p:spPr>
          <a:xfrm>
            <a:off x="2560320" y="1828800"/>
            <a:ext cx="1874520" cy="10058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Keep only sentences that contain a verifiable fact. Opinions and vague statements are dropped.</a:t>
            </a:r>
            <a:endParaRPr lang="en-US" sz="1300" dirty="0"/>
          </a:p>
        </p:txBody>
      </p:sp>
      <p:sp>
        <p:nvSpPr>
          <p:cNvPr id="14" name="Shape 11"/>
          <p:cNvSpPr/>
          <p:nvPr/>
        </p:nvSpPr>
        <p:spPr>
          <a:xfrm>
            <a:off x="3866605" y="1554480"/>
            <a:ext cx="679269" cy="0"/>
          </a:xfrm>
          <a:prstGeom prst="line">
            <a:avLst/>
          </a:prstGeom>
          <a:noFill/>
          <a:ln w="19050">
            <a:solidFill>
              <a:srgbClr val="B9C2BB"/>
            </a:solidFill>
            <a:prstDash val="solid"/>
            <a:tailEnd type="triangle"/>
          </a:ln>
        </p:spPr>
      </p:sp>
      <p:sp>
        <p:nvSpPr>
          <p:cNvPr id="15" name="Text 12"/>
          <p:cNvSpPr txBox="1"/>
          <p:nvPr/>
        </p:nvSpPr>
        <p:spPr>
          <a:xfrm>
            <a:off x="4663440" y="1371600"/>
            <a:ext cx="365760" cy="365760"/>
          </a:xfrm>
          <a:prstGeom prst="rect">
            <a:avLst/>
          </a:prstGeom>
          <a:noFill/>
          <a:ln/>
        </p:spPr>
        <p:txBody>
          <a:bodyPr wrap="square" lIns="0" tIns="0" rIns="0" bIns="0" rtlCol="0" anchor="t"/>
          <a:lstStyle/>
          <a:p>
            <a:pPr marL="0" indent="0">
              <a:buNone/>
            </a:pPr>
            <a:r>
              <a:rPr lang="en-US" sz="2200" b="1" dirty="0">
                <a:solidFill>
                  <a:srgbClr val="1E5A40"/>
                </a:solidFill>
                <a:latin typeface="Calibri" pitchFamily="34" charset="0"/>
                <a:ea typeface="Calibri" pitchFamily="34" charset="-122"/>
                <a:cs typeface="Calibri" pitchFamily="34" charset="-120"/>
              </a:rPr>
              <a:t>3</a:t>
            </a:r>
            <a:endParaRPr lang="en-US" sz="2200" dirty="0"/>
          </a:p>
        </p:txBody>
      </p:sp>
      <p:sp>
        <p:nvSpPr>
          <p:cNvPr id="16" name="Text 13"/>
          <p:cNvSpPr txBox="1"/>
          <p:nvPr/>
        </p:nvSpPr>
        <p:spPr>
          <a:xfrm>
            <a:off x="5029200" y="1435608"/>
            <a:ext cx="1463040" cy="274320"/>
          </a:xfrm>
          <a:prstGeom prst="rect">
            <a:avLst/>
          </a:prstGeom>
          <a:noFill/>
          <a:ln/>
        </p:spPr>
        <p:txBody>
          <a:bodyPr wrap="square" lIns="0" tIns="0" rIns="0" bIns="0" rtlCol="0" anchor="t"/>
          <a:lstStyle/>
          <a:p>
            <a:pPr marL="0" indent="0">
              <a:buNone/>
            </a:pPr>
            <a:r>
              <a:rPr lang="en-US" sz="1600" b="1" dirty="0">
                <a:solidFill>
                  <a:srgbClr val="12291F"/>
                </a:solidFill>
                <a:latin typeface="Calibri" pitchFamily="34" charset="0"/>
                <a:ea typeface="Calibri" pitchFamily="34" charset="-122"/>
                <a:cs typeface="Calibri" pitchFamily="34" charset="-120"/>
              </a:rPr>
              <a:t>Disambiguate</a:t>
            </a:r>
            <a:endParaRPr lang="en-US" sz="1600" dirty="0"/>
          </a:p>
        </p:txBody>
      </p:sp>
      <p:sp>
        <p:nvSpPr>
          <p:cNvPr id="17" name="Text 14"/>
          <p:cNvSpPr txBox="1"/>
          <p:nvPr/>
        </p:nvSpPr>
        <p:spPr>
          <a:xfrm>
            <a:off x="4663440" y="1828800"/>
            <a:ext cx="1874520" cy="10058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Resolve pronouns and vague references. Several LLM votes settle unclear cases, or drop them.</a:t>
            </a:r>
            <a:endParaRPr lang="en-US" sz="1300" dirty="0"/>
          </a:p>
        </p:txBody>
      </p:sp>
      <p:sp>
        <p:nvSpPr>
          <p:cNvPr id="18" name="Shape 15"/>
          <p:cNvSpPr/>
          <p:nvPr/>
        </p:nvSpPr>
        <p:spPr>
          <a:xfrm>
            <a:off x="6283234" y="1554480"/>
            <a:ext cx="418011" cy="0"/>
          </a:xfrm>
          <a:prstGeom prst="line">
            <a:avLst/>
          </a:prstGeom>
          <a:noFill/>
          <a:ln w="19050">
            <a:solidFill>
              <a:srgbClr val="B9C2BB"/>
            </a:solidFill>
            <a:prstDash val="solid"/>
            <a:tailEnd type="triangle"/>
          </a:ln>
        </p:spPr>
      </p:sp>
      <p:sp>
        <p:nvSpPr>
          <p:cNvPr id="19" name="Text 16"/>
          <p:cNvSpPr txBox="1"/>
          <p:nvPr/>
        </p:nvSpPr>
        <p:spPr>
          <a:xfrm>
            <a:off x="6766560" y="1371600"/>
            <a:ext cx="365760" cy="365760"/>
          </a:xfrm>
          <a:prstGeom prst="rect">
            <a:avLst/>
          </a:prstGeom>
          <a:noFill/>
          <a:ln/>
        </p:spPr>
        <p:txBody>
          <a:bodyPr wrap="square" lIns="0" tIns="0" rIns="0" bIns="0" rtlCol="0" anchor="t"/>
          <a:lstStyle/>
          <a:p>
            <a:pPr marL="0" indent="0">
              <a:buNone/>
            </a:pPr>
            <a:r>
              <a:rPr lang="en-US" sz="2200" b="1" dirty="0">
                <a:solidFill>
                  <a:srgbClr val="1E5A40"/>
                </a:solidFill>
                <a:latin typeface="Calibri" pitchFamily="34" charset="0"/>
                <a:ea typeface="Calibri" pitchFamily="34" charset="-122"/>
                <a:cs typeface="Calibri" pitchFamily="34" charset="-120"/>
              </a:rPr>
              <a:t>4</a:t>
            </a:r>
            <a:endParaRPr lang="en-US" sz="2200" dirty="0"/>
          </a:p>
        </p:txBody>
      </p:sp>
      <p:sp>
        <p:nvSpPr>
          <p:cNvPr id="20" name="Text 17"/>
          <p:cNvSpPr txBox="1"/>
          <p:nvPr/>
        </p:nvSpPr>
        <p:spPr>
          <a:xfrm>
            <a:off x="7132320" y="1435608"/>
            <a:ext cx="1463040" cy="274320"/>
          </a:xfrm>
          <a:prstGeom prst="rect">
            <a:avLst/>
          </a:prstGeom>
          <a:noFill/>
          <a:ln/>
        </p:spPr>
        <p:txBody>
          <a:bodyPr wrap="square" lIns="0" tIns="0" rIns="0" bIns="0" rtlCol="0" anchor="t"/>
          <a:lstStyle/>
          <a:p>
            <a:pPr marL="0" indent="0">
              <a:buNone/>
            </a:pPr>
            <a:r>
              <a:rPr lang="en-US" sz="1600" b="1" dirty="0">
                <a:solidFill>
                  <a:srgbClr val="12291F"/>
                </a:solidFill>
                <a:latin typeface="Calibri" pitchFamily="34" charset="0"/>
                <a:ea typeface="Calibri" pitchFamily="34" charset="-122"/>
                <a:cs typeface="Calibri" pitchFamily="34" charset="-120"/>
              </a:rPr>
              <a:t>Decompose</a:t>
            </a:r>
            <a:endParaRPr lang="en-US" sz="1600" dirty="0"/>
          </a:p>
        </p:txBody>
      </p:sp>
      <p:sp>
        <p:nvSpPr>
          <p:cNvPr id="21" name="Text 18"/>
          <p:cNvSpPr txBox="1"/>
          <p:nvPr/>
        </p:nvSpPr>
        <p:spPr>
          <a:xfrm>
            <a:off x="6766560" y="1828800"/>
            <a:ext cx="1874520" cy="1005840"/>
          </a:xfrm>
          <a:prstGeom prst="rect">
            <a:avLst/>
          </a:prstGeom>
          <a:noFill/>
          <a:ln/>
        </p:spPr>
        <p:txBody>
          <a:bodyPr wrap="square" lIns="0" tIns="0" rIns="0" bIns="0" rtlCol="0" anchor="t"/>
          <a:lstStyle/>
          <a:p>
            <a:pPr marL="0" indent="0">
              <a:buNone/>
            </a:pPr>
            <a:r>
              <a:rPr lang="en-US" sz="1300" dirty="0">
                <a:solidFill>
                  <a:srgbClr val="12291F"/>
                </a:solidFill>
                <a:latin typeface="Calibri" pitchFamily="34" charset="0"/>
                <a:ea typeface="Calibri" pitchFamily="34" charset="-122"/>
                <a:cs typeface="Calibri" pitchFamily="34" charset="-120"/>
              </a:rPr>
              <a:t>Rewrite each sentence into standalone, atomic claims that can be checked independently.</a:t>
            </a:r>
            <a:endParaRPr lang="en-US" sz="1300" dirty="0"/>
          </a:p>
        </p:txBody>
      </p:sp>
      <p:sp>
        <p:nvSpPr>
          <p:cNvPr id="22" name="Text 19"/>
          <p:cNvSpPr txBox="1"/>
          <p:nvPr/>
        </p:nvSpPr>
        <p:spPr>
          <a:xfrm>
            <a:off x="457200" y="2926080"/>
            <a:ext cx="2743200" cy="201168"/>
          </a:xfrm>
          <a:prstGeom prst="rect">
            <a:avLst/>
          </a:prstGeom>
          <a:noFill/>
          <a:ln/>
        </p:spPr>
        <p:txBody>
          <a:bodyPr wrap="square" lIns="0" tIns="0" rIns="0" bIns="0" rtlCol="0" anchor="t"/>
          <a:lstStyle/>
          <a:p>
            <a:pPr marL="0" indent="0">
              <a:buNone/>
            </a:pPr>
            <a:r>
              <a:rPr lang="en-US" sz="1000" b="1" dirty="0">
                <a:solidFill>
                  <a:srgbClr val="5C6B62"/>
                </a:solidFill>
                <a:latin typeface="Calibri" pitchFamily="34" charset="0"/>
                <a:ea typeface="Calibri" pitchFamily="34" charset="-122"/>
                <a:cs typeface="Calibri" pitchFamily="34" charset="-120"/>
              </a:rPr>
              <a:t>EXAMPLE</a:t>
            </a:r>
            <a:endParaRPr lang="en-US" sz="1000" dirty="0"/>
          </a:p>
        </p:txBody>
      </p:sp>
      <p:sp>
        <p:nvSpPr>
          <p:cNvPr id="23" name="Shape 20"/>
          <p:cNvSpPr/>
          <p:nvPr/>
        </p:nvSpPr>
        <p:spPr>
          <a:xfrm>
            <a:off x="457200" y="3200400"/>
            <a:ext cx="3657600" cy="914400"/>
          </a:xfrm>
          <a:prstGeom prst="rect">
            <a:avLst/>
          </a:prstGeom>
          <a:solidFill>
            <a:srgbClr val="EEEFE7"/>
          </a:solidFill>
          <a:ln w="12700">
            <a:solidFill>
              <a:srgbClr val="EEEFE7"/>
            </a:solidFill>
            <a:prstDash val="solid"/>
          </a:ln>
        </p:spPr>
      </p:sp>
      <p:sp>
        <p:nvSpPr>
          <p:cNvPr id="24" name="Text 21"/>
          <p:cNvSpPr txBox="1"/>
          <p:nvPr/>
        </p:nvSpPr>
        <p:spPr>
          <a:xfrm>
            <a:off x="457200" y="3200400"/>
            <a:ext cx="3657600" cy="914400"/>
          </a:xfrm>
          <a:prstGeom prst="rect">
            <a:avLst/>
          </a:prstGeom>
          <a:noFill/>
          <a:ln/>
        </p:spPr>
        <p:txBody>
          <a:bodyPr wrap="square" lIns="63500" tIns="63500" rIns="63500" bIns="63500" rtlCol="0" anchor="ctr"/>
          <a:lstStyle/>
          <a:p>
            <a:pPr marL="0" indent="0" algn="ctr">
              <a:buNone/>
            </a:pPr>
            <a:r>
              <a:rPr lang="en-US" sz="1300" dirty="0">
                <a:solidFill>
                  <a:srgbClr val="12291F"/>
                </a:solidFill>
                <a:latin typeface="Calibri" pitchFamily="34" charset="0"/>
                <a:ea typeface="Calibri" pitchFamily="34" charset="-122"/>
                <a:cs typeface="Calibri" pitchFamily="34" charset="-120"/>
              </a:rPr>
              <a:t>“Marie Curie won two Nobel Prizes, and she discovered polonium.”</a:t>
            </a:r>
            <a:endParaRPr lang="en-US" sz="1300" dirty="0"/>
          </a:p>
        </p:txBody>
      </p:sp>
      <p:sp>
        <p:nvSpPr>
          <p:cNvPr id="25" name="Text 22"/>
          <p:cNvSpPr txBox="1"/>
          <p:nvPr/>
        </p:nvSpPr>
        <p:spPr>
          <a:xfrm>
            <a:off x="4114800" y="3291840"/>
            <a:ext cx="1188720" cy="411480"/>
          </a:xfrm>
          <a:prstGeom prst="rect">
            <a:avLst/>
          </a:prstGeom>
          <a:noFill/>
          <a:ln/>
        </p:spPr>
        <p:txBody>
          <a:bodyPr wrap="square" lIns="0" tIns="0" rIns="0" bIns="0" rtlCol="0" anchor="t"/>
          <a:lstStyle/>
          <a:p>
            <a:pPr marL="0" indent="0" algn="ctr">
              <a:buNone/>
            </a:pPr>
            <a:r>
              <a:rPr lang="en-US" sz="1050" dirty="0">
                <a:solidFill>
                  <a:srgbClr val="5C6B62"/>
                </a:solidFill>
                <a:latin typeface="Calibri" pitchFamily="34" charset="0"/>
                <a:ea typeface="Calibri" pitchFamily="34" charset="-122"/>
                <a:cs typeface="Calibri" pitchFamily="34" charset="-120"/>
              </a:rPr>
              <a:t>“she” becomes “Marie Curie”</a:t>
            </a:r>
            <a:endParaRPr lang="en-US" sz="1050" dirty="0"/>
          </a:p>
        </p:txBody>
      </p:sp>
      <p:sp>
        <p:nvSpPr>
          <p:cNvPr id="26" name="Shape 23"/>
          <p:cNvSpPr/>
          <p:nvPr/>
        </p:nvSpPr>
        <p:spPr>
          <a:xfrm>
            <a:off x="4206240" y="3703320"/>
            <a:ext cx="1097280" cy="0"/>
          </a:xfrm>
          <a:prstGeom prst="line">
            <a:avLst/>
          </a:prstGeom>
          <a:noFill/>
          <a:ln w="19050">
            <a:solidFill>
              <a:srgbClr val="5C6B62"/>
            </a:solidFill>
            <a:prstDash val="solid"/>
            <a:tailEnd type="triangle"/>
          </a:ln>
        </p:spPr>
      </p:sp>
      <p:sp>
        <p:nvSpPr>
          <p:cNvPr id="27" name="Shape 24"/>
          <p:cNvSpPr/>
          <p:nvPr/>
        </p:nvSpPr>
        <p:spPr>
          <a:xfrm>
            <a:off x="5349240" y="3200400"/>
            <a:ext cx="3337560" cy="411480"/>
          </a:xfrm>
          <a:prstGeom prst="rect">
            <a:avLst/>
          </a:prstGeom>
          <a:solidFill>
            <a:srgbClr val="1E5A40"/>
          </a:solidFill>
          <a:ln w="12700">
            <a:solidFill>
              <a:srgbClr val="1E5A40"/>
            </a:solidFill>
            <a:prstDash val="solid"/>
          </a:ln>
        </p:spPr>
      </p:sp>
      <p:sp>
        <p:nvSpPr>
          <p:cNvPr id="28" name="Text 25"/>
          <p:cNvSpPr txBox="1"/>
          <p:nvPr/>
        </p:nvSpPr>
        <p:spPr>
          <a:xfrm>
            <a:off x="5349240" y="3200400"/>
            <a:ext cx="3337560" cy="411480"/>
          </a:xfrm>
          <a:prstGeom prst="rect">
            <a:avLst/>
          </a:prstGeom>
          <a:noFill/>
          <a:ln/>
        </p:spPr>
        <p:txBody>
          <a:bodyPr wrap="square" lIns="63500" tIns="63500" rIns="63500" bIns="6350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Marie Curie won two Nobel Prizes.</a:t>
            </a:r>
            <a:endParaRPr lang="en-US" sz="1250" dirty="0"/>
          </a:p>
        </p:txBody>
      </p:sp>
      <p:sp>
        <p:nvSpPr>
          <p:cNvPr id="29" name="Shape 26"/>
          <p:cNvSpPr/>
          <p:nvPr/>
        </p:nvSpPr>
        <p:spPr>
          <a:xfrm>
            <a:off x="5349240" y="3703320"/>
            <a:ext cx="3337560" cy="411480"/>
          </a:xfrm>
          <a:prstGeom prst="rect">
            <a:avLst/>
          </a:prstGeom>
          <a:solidFill>
            <a:srgbClr val="1E5A40"/>
          </a:solidFill>
          <a:ln w="12700">
            <a:solidFill>
              <a:srgbClr val="1E5A40"/>
            </a:solidFill>
            <a:prstDash val="solid"/>
          </a:ln>
        </p:spPr>
      </p:sp>
      <p:sp>
        <p:nvSpPr>
          <p:cNvPr id="30" name="Text 27"/>
          <p:cNvSpPr txBox="1"/>
          <p:nvPr/>
        </p:nvSpPr>
        <p:spPr>
          <a:xfrm>
            <a:off x="5349240" y="3703320"/>
            <a:ext cx="3337560" cy="411480"/>
          </a:xfrm>
          <a:prstGeom prst="rect">
            <a:avLst/>
          </a:prstGeom>
          <a:noFill/>
          <a:ln/>
        </p:spPr>
        <p:txBody>
          <a:bodyPr wrap="square" lIns="63500" tIns="63500" rIns="63500" bIns="63500" rtlCol="0" anchor="ctr"/>
          <a:lstStyle/>
          <a:p>
            <a:pPr marL="0" indent="0" algn="ctr">
              <a:buNone/>
            </a:pPr>
            <a:r>
              <a:rPr lang="en-US" sz="1250" dirty="0">
                <a:solidFill>
                  <a:srgbClr val="FFFFFF"/>
                </a:solidFill>
                <a:latin typeface="Calibri" pitchFamily="34" charset="0"/>
                <a:ea typeface="Calibri" pitchFamily="34" charset="-122"/>
                <a:cs typeface="Calibri" pitchFamily="34" charset="-120"/>
              </a:rPr>
              <a:t>Marie Curie discovered polonium.</a:t>
            </a:r>
            <a:endParaRPr lang="en-US" sz="1250" dirty="0"/>
          </a:p>
        </p:txBody>
      </p:sp>
      <p:sp>
        <p:nvSpPr>
          <p:cNvPr id="31" name="Text 28"/>
          <p:cNvSpPr txBox="1"/>
          <p:nvPr/>
        </p:nvSpPr>
        <p:spPr>
          <a:xfrm>
            <a:off x="457200" y="4297680"/>
            <a:ext cx="8229600" cy="411480"/>
          </a:xfrm>
          <a:prstGeom prst="rect">
            <a:avLst/>
          </a:prstGeom>
          <a:noFill/>
          <a:ln/>
        </p:spPr>
        <p:txBody>
          <a:bodyPr wrap="square" lIns="0" tIns="0" rIns="0" bIns="0" rtlCol="0" anchor="t"/>
          <a:lstStyle/>
          <a:p>
            <a:pPr marL="0" indent="0">
              <a:buNone/>
            </a:pPr>
            <a:r>
              <a:rPr lang="en-US" sz="1200" dirty="0">
                <a:solidFill>
                  <a:srgbClr val="5C6B62"/>
                </a:solidFill>
                <a:latin typeface="Calibri" pitchFamily="34" charset="0"/>
                <a:ea typeface="Calibri" pitchFamily="34" charset="-122"/>
                <a:cs typeface="Calibri" pitchFamily="34" charset="-120"/>
              </a:rPr>
              <a:t>Configurable in the config folder: LLM temperature, number of votes and more. The method is based on Claimify (Metropolitansky &amp; Larson, 2025); the voting step is an addition by this project.</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397995" y="131864"/>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MODULE 2: CLAIM VERIFIER</a:t>
            </a:r>
            <a:endParaRPr lang="en-US" sz="2800" dirty="0"/>
          </a:p>
        </p:txBody>
      </p:sp>
      <p:sp>
        <p:nvSpPr>
          <p:cNvPr id="3" name="Text 1"/>
          <p:cNvSpPr txBox="1"/>
          <p:nvPr/>
        </p:nvSpPr>
        <p:spPr>
          <a:xfrm>
            <a:off x="411480" y="667512"/>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Each claim is checked against live evidence.</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7</a:t>
            </a:r>
            <a:endParaRPr lang="en-US" sz="1000" dirty="0"/>
          </a:p>
        </p:txBody>
      </p:sp>
      <p:sp>
        <p:nvSpPr>
          <p:cNvPr id="7" name="Shape 4"/>
          <p:cNvSpPr/>
          <p:nvPr/>
        </p:nvSpPr>
        <p:spPr>
          <a:xfrm>
            <a:off x="457200" y="1417320"/>
            <a:ext cx="1417320" cy="685800"/>
          </a:xfrm>
          <a:prstGeom prst="rect">
            <a:avLst/>
          </a:prstGeom>
          <a:solidFill>
            <a:srgbClr val="EEEFE7"/>
          </a:solidFill>
          <a:ln w="12700">
            <a:solidFill>
              <a:srgbClr val="EEEFE7"/>
            </a:solidFill>
            <a:prstDash val="solid"/>
          </a:ln>
        </p:spPr>
      </p:sp>
      <p:sp>
        <p:nvSpPr>
          <p:cNvPr id="8" name="Text 5"/>
          <p:cNvSpPr txBox="1"/>
          <p:nvPr/>
        </p:nvSpPr>
        <p:spPr>
          <a:xfrm>
            <a:off x="457200"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12291F"/>
                </a:solidFill>
                <a:latin typeface="Calibri" pitchFamily="34" charset="0"/>
                <a:ea typeface="Calibri" pitchFamily="34" charset="-122"/>
                <a:cs typeface="Calibri" pitchFamily="34" charset="-120"/>
              </a:rPr>
              <a:t>Claim</a:t>
            </a:r>
            <a:endParaRPr lang="en-US" sz="1350" dirty="0"/>
          </a:p>
        </p:txBody>
      </p:sp>
      <p:sp>
        <p:nvSpPr>
          <p:cNvPr id="9" name="Text 6"/>
          <p:cNvSpPr txBox="1"/>
          <p:nvPr/>
        </p:nvSpPr>
        <p:spPr>
          <a:xfrm>
            <a:off x="457200"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One atomic statement</a:t>
            </a:r>
            <a:endParaRPr lang="en-US" sz="1150" dirty="0"/>
          </a:p>
        </p:txBody>
      </p:sp>
      <p:sp>
        <p:nvSpPr>
          <p:cNvPr id="10" name="Shape 7"/>
          <p:cNvSpPr/>
          <p:nvPr/>
        </p:nvSpPr>
        <p:spPr>
          <a:xfrm>
            <a:off x="1901952" y="1755648"/>
            <a:ext cx="228600" cy="0"/>
          </a:xfrm>
          <a:prstGeom prst="line">
            <a:avLst/>
          </a:prstGeom>
          <a:noFill/>
          <a:ln w="19050">
            <a:solidFill>
              <a:srgbClr val="5C6B62"/>
            </a:solidFill>
            <a:prstDash val="solid"/>
            <a:tailEnd type="triangle"/>
          </a:ln>
        </p:spPr>
      </p:sp>
      <p:sp>
        <p:nvSpPr>
          <p:cNvPr id="11" name="Shape 8"/>
          <p:cNvSpPr/>
          <p:nvPr/>
        </p:nvSpPr>
        <p:spPr>
          <a:xfrm>
            <a:off x="2157984" y="1417320"/>
            <a:ext cx="1417320" cy="685800"/>
          </a:xfrm>
          <a:prstGeom prst="rect">
            <a:avLst/>
          </a:prstGeom>
          <a:solidFill>
            <a:srgbClr val="EEEFE7"/>
          </a:solidFill>
          <a:ln w="12700">
            <a:solidFill>
              <a:srgbClr val="EEEFE7"/>
            </a:solidFill>
            <a:prstDash val="solid"/>
          </a:ln>
        </p:spPr>
      </p:sp>
      <p:sp>
        <p:nvSpPr>
          <p:cNvPr id="12" name="Text 9"/>
          <p:cNvSpPr txBox="1"/>
          <p:nvPr/>
        </p:nvSpPr>
        <p:spPr>
          <a:xfrm>
            <a:off x="2157984"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12291F"/>
                </a:solidFill>
                <a:latin typeface="Calibri" pitchFamily="34" charset="0"/>
                <a:ea typeface="Calibri" pitchFamily="34" charset="-122"/>
                <a:cs typeface="Calibri" pitchFamily="34" charset="-120"/>
              </a:rPr>
              <a:t>Search queries</a:t>
            </a:r>
            <a:endParaRPr lang="en-US" sz="1350" dirty="0"/>
          </a:p>
        </p:txBody>
      </p:sp>
      <p:sp>
        <p:nvSpPr>
          <p:cNvPr id="13" name="Text 10"/>
          <p:cNvSpPr txBox="1"/>
          <p:nvPr/>
        </p:nvSpPr>
        <p:spPr>
          <a:xfrm>
            <a:off x="2157984"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LLM writes focused search queries</a:t>
            </a:r>
            <a:endParaRPr lang="en-US" sz="1150" dirty="0"/>
          </a:p>
        </p:txBody>
      </p:sp>
      <p:sp>
        <p:nvSpPr>
          <p:cNvPr id="14" name="Shape 11"/>
          <p:cNvSpPr/>
          <p:nvPr/>
        </p:nvSpPr>
        <p:spPr>
          <a:xfrm>
            <a:off x="3602736" y="1755648"/>
            <a:ext cx="228600" cy="0"/>
          </a:xfrm>
          <a:prstGeom prst="line">
            <a:avLst/>
          </a:prstGeom>
          <a:noFill/>
          <a:ln w="19050">
            <a:solidFill>
              <a:srgbClr val="5C6B62"/>
            </a:solidFill>
            <a:prstDash val="solid"/>
            <a:tailEnd type="triangle"/>
          </a:ln>
        </p:spPr>
      </p:sp>
      <p:sp>
        <p:nvSpPr>
          <p:cNvPr id="15" name="Shape 12"/>
          <p:cNvSpPr/>
          <p:nvPr/>
        </p:nvSpPr>
        <p:spPr>
          <a:xfrm>
            <a:off x="3858768" y="1417320"/>
            <a:ext cx="1417320" cy="685800"/>
          </a:xfrm>
          <a:prstGeom prst="rect">
            <a:avLst/>
          </a:prstGeom>
          <a:solidFill>
            <a:srgbClr val="EEEFE7"/>
          </a:solidFill>
          <a:ln w="12700">
            <a:solidFill>
              <a:srgbClr val="EEEFE7"/>
            </a:solidFill>
            <a:prstDash val="solid"/>
          </a:ln>
        </p:spPr>
      </p:sp>
      <p:sp>
        <p:nvSpPr>
          <p:cNvPr id="16" name="Text 13"/>
          <p:cNvSpPr txBox="1"/>
          <p:nvPr/>
        </p:nvSpPr>
        <p:spPr>
          <a:xfrm>
            <a:off x="3858768"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12291F"/>
                </a:solidFill>
                <a:latin typeface="Calibri" pitchFamily="34" charset="0"/>
                <a:ea typeface="Calibri" pitchFamily="34" charset="-122"/>
                <a:cs typeface="Calibri" pitchFamily="34" charset="-120"/>
              </a:rPr>
              <a:t>Tavily search</a:t>
            </a:r>
            <a:endParaRPr lang="en-US" sz="1350" dirty="0"/>
          </a:p>
        </p:txBody>
      </p:sp>
      <p:sp>
        <p:nvSpPr>
          <p:cNvPr id="17" name="Text 14"/>
          <p:cNvSpPr txBox="1"/>
          <p:nvPr/>
        </p:nvSpPr>
        <p:spPr>
          <a:xfrm>
            <a:off x="3858768"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Top web results are fetched</a:t>
            </a:r>
            <a:endParaRPr lang="en-US" sz="1150" dirty="0"/>
          </a:p>
        </p:txBody>
      </p:sp>
      <p:sp>
        <p:nvSpPr>
          <p:cNvPr id="18" name="Shape 15"/>
          <p:cNvSpPr/>
          <p:nvPr/>
        </p:nvSpPr>
        <p:spPr>
          <a:xfrm>
            <a:off x="5303520" y="1755648"/>
            <a:ext cx="228600" cy="0"/>
          </a:xfrm>
          <a:prstGeom prst="line">
            <a:avLst/>
          </a:prstGeom>
          <a:noFill/>
          <a:ln w="19050">
            <a:solidFill>
              <a:srgbClr val="5C6B62"/>
            </a:solidFill>
            <a:prstDash val="solid"/>
            <a:tailEnd type="triangle"/>
          </a:ln>
        </p:spPr>
      </p:sp>
      <p:sp>
        <p:nvSpPr>
          <p:cNvPr id="19" name="Shape 16"/>
          <p:cNvSpPr/>
          <p:nvPr/>
        </p:nvSpPr>
        <p:spPr>
          <a:xfrm>
            <a:off x="5559552" y="1417320"/>
            <a:ext cx="1417320" cy="685800"/>
          </a:xfrm>
          <a:prstGeom prst="rect">
            <a:avLst/>
          </a:prstGeom>
          <a:solidFill>
            <a:srgbClr val="EEEFE7"/>
          </a:solidFill>
          <a:ln w="12700">
            <a:solidFill>
              <a:srgbClr val="EEEFE7"/>
            </a:solidFill>
            <a:prstDash val="solid"/>
          </a:ln>
        </p:spPr>
      </p:sp>
      <p:sp>
        <p:nvSpPr>
          <p:cNvPr id="20" name="Text 17"/>
          <p:cNvSpPr txBox="1"/>
          <p:nvPr/>
        </p:nvSpPr>
        <p:spPr>
          <a:xfrm>
            <a:off x="5559552"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12291F"/>
                </a:solidFill>
                <a:latin typeface="Calibri" pitchFamily="34" charset="0"/>
                <a:ea typeface="Calibri" pitchFamily="34" charset="-122"/>
                <a:cs typeface="Calibri" pitchFamily="34" charset="-120"/>
              </a:rPr>
              <a:t>Judge evidence</a:t>
            </a:r>
            <a:endParaRPr lang="en-US" sz="1350" dirty="0"/>
          </a:p>
        </p:txBody>
      </p:sp>
      <p:sp>
        <p:nvSpPr>
          <p:cNvPr id="21" name="Text 18"/>
          <p:cNvSpPr txBox="1"/>
          <p:nvPr/>
        </p:nvSpPr>
        <p:spPr>
          <a:xfrm>
            <a:off x="5559552"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LLM compares the claim with sources</a:t>
            </a:r>
            <a:endParaRPr lang="en-US" sz="1150" dirty="0"/>
          </a:p>
        </p:txBody>
      </p:sp>
      <p:sp>
        <p:nvSpPr>
          <p:cNvPr id="22" name="Shape 19"/>
          <p:cNvSpPr/>
          <p:nvPr/>
        </p:nvSpPr>
        <p:spPr>
          <a:xfrm>
            <a:off x="7004304" y="1755648"/>
            <a:ext cx="228600" cy="0"/>
          </a:xfrm>
          <a:prstGeom prst="line">
            <a:avLst/>
          </a:prstGeom>
          <a:noFill/>
          <a:ln w="19050">
            <a:solidFill>
              <a:srgbClr val="5C6B62"/>
            </a:solidFill>
            <a:prstDash val="solid"/>
            <a:tailEnd type="triangle"/>
          </a:ln>
        </p:spPr>
      </p:sp>
      <p:sp>
        <p:nvSpPr>
          <p:cNvPr id="23" name="Shape 20"/>
          <p:cNvSpPr/>
          <p:nvPr/>
        </p:nvSpPr>
        <p:spPr>
          <a:xfrm>
            <a:off x="7260336" y="1417320"/>
            <a:ext cx="1417320" cy="685800"/>
          </a:xfrm>
          <a:prstGeom prst="rect">
            <a:avLst/>
          </a:prstGeom>
          <a:solidFill>
            <a:srgbClr val="1E5A40"/>
          </a:solidFill>
          <a:ln w="12700">
            <a:solidFill>
              <a:srgbClr val="1E5A40"/>
            </a:solidFill>
            <a:prstDash val="solid"/>
          </a:ln>
        </p:spPr>
      </p:sp>
      <p:sp>
        <p:nvSpPr>
          <p:cNvPr id="24" name="Text 21"/>
          <p:cNvSpPr txBox="1"/>
          <p:nvPr/>
        </p:nvSpPr>
        <p:spPr>
          <a:xfrm>
            <a:off x="7260336" y="1417320"/>
            <a:ext cx="1417320" cy="685800"/>
          </a:xfrm>
          <a:prstGeom prst="rect">
            <a:avLst/>
          </a:prstGeom>
          <a:noFill/>
          <a:ln/>
        </p:spPr>
        <p:txBody>
          <a:bodyPr wrap="square" lIns="63500" tIns="63500" rIns="63500" bIns="63500" rtlCol="0" anchor="ctr"/>
          <a:lstStyle/>
          <a:p>
            <a:pPr marL="0" indent="0" algn="ctr">
              <a:buNone/>
            </a:pPr>
            <a:r>
              <a:rPr lang="en-US" sz="1350" b="1" dirty="0">
                <a:solidFill>
                  <a:srgbClr val="FFFFFF"/>
                </a:solidFill>
                <a:latin typeface="Calibri" pitchFamily="34" charset="0"/>
                <a:ea typeface="Calibri" pitchFamily="34" charset="-122"/>
                <a:cs typeface="Calibri" pitchFamily="34" charset="-120"/>
              </a:rPr>
              <a:t>Verdict</a:t>
            </a:r>
            <a:endParaRPr lang="en-US" sz="1350" dirty="0"/>
          </a:p>
        </p:txBody>
      </p:sp>
      <p:sp>
        <p:nvSpPr>
          <p:cNvPr id="25" name="Text 22"/>
          <p:cNvSpPr txBox="1"/>
          <p:nvPr/>
        </p:nvSpPr>
        <p:spPr>
          <a:xfrm>
            <a:off x="7260336" y="2176272"/>
            <a:ext cx="1417320" cy="457200"/>
          </a:xfrm>
          <a:prstGeom prst="rect">
            <a:avLst/>
          </a:prstGeom>
          <a:noFill/>
          <a:ln/>
        </p:spPr>
        <p:txBody>
          <a:bodyPr wrap="square" lIns="0" tIns="0" rIns="0" bIns="0" rtlCol="0" anchor="t"/>
          <a:lstStyle/>
          <a:p>
            <a:pPr marL="0" indent="0" algn="ctr">
              <a:buNone/>
            </a:pPr>
            <a:r>
              <a:rPr lang="en-US" sz="1150" dirty="0">
                <a:solidFill>
                  <a:srgbClr val="5C6B62"/>
                </a:solidFill>
                <a:latin typeface="Calibri" pitchFamily="34" charset="0"/>
                <a:ea typeface="Calibri" pitchFamily="34" charset="-122"/>
                <a:cs typeface="Calibri" pitchFamily="34" charset="-120"/>
              </a:rPr>
              <a:t>Final result for the claim</a:t>
            </a:r>
            <a:endParaRPr lang="en-US" sz="1150" dirty="0"/>
          </a:p>
        </p:txBody>
      </p:sp>
      <p:sp>
        <p:nvSpPr>
          <p:cNvPr id="26" name="Shape 23"/>
          <p:cNvSpPr/>
          <p:nvPr/>
        </p:nvSpPr>
        <p:spPr>
          <a:xfrm>
            <a:off x="6263640" y="2651760"/>
            <a:ext cx="0" cy="365760"/>
          </a:xfrm>
          <a:prstGeom prst="line">
            <a:avLst/>
          </a:prstGeom>
          <a:noFill/>
          <a:ln w="19050">
            <a:solidFill>
              <a:srgbClr val="1E5A40"/>
            </a:solidFill>
            <a:prstDash val="solid"/>
          </a:ln>
        </p:spPr>
      </p:sp>
      <p:sp>
        <p:nvSpPr>
          <p:cNvPr id="27" name="Shape 24"/>
          <p:cNvSpPr/>
          <p:nvPr/>
        </p:nvSpPr>
        <p:spPr>
          <a:xfrm>
            <a:off x="2862072" y="3017520"/>
            <a:ext cx="3401568" cy="0"/>
          </a:xfrm>
          <a:prstGeom prst="line">
            <a:avLst/>
          </a:prstGeom>
          <a:noFill/>
          <a:ln w="19050">
            <a:solidFill>
              <a:srgbClr val="1E5A40"/>
            </a:solidFill>
            <a:prstDash val="solid"/>
          </a:ln>
        </p:spPr>
      </p:sp>
      <p:sp>
        <p:nvSpPr>
          <p:cNvPr id="28" name="Shape 25"/>
          <p:cNvSpPr/>
          <p:nvPr/>
        </p:nvSpPr>
        <p:spPr>
          <a:xfrm flipV="1">
            <a:off x="2862072" y="2651760"/>
            <a:ext cx="0" cy="365760"/>
          </a:xfrm>
          <a:prstGeom prst="line">
            <a:avLst/>
          </a:prstGeom>
          <a:noFill/>
          <a:ln w="19050">
            <a:solidFill>
              <a:srgbClr val="1E5A40"/>
            </a:solidFill>
            <a:prstDash val="solid"/>
            <a:tailEnd type="triangle"/>
          </a:ln>
        </p:spPr>
      </p:sp>
      <p:sp>
        <p:nvSpPr>
          <p:cNvPr id="29" name="Text 26"/>
          <p:cNvSpPr txBox="1"/>
          <p:nvPr/>
        </p:nvSpPr>
        <p:spPr>
          <a:xfrm>
            <a:off x="2862072" y="3072384"/>
            <a:ext cx="3401568" cy="228600"/>
          </a:xfrm>
          <a:prstGeom prst="rect">
            <a:avLst/>
          </a:prstGeom>
          <a:noFill/>
          <a:ln/>
        </p:spPr>
        <p:txBody>
          <a:bodyPr wrap="square" lIns="0" tIns="0" rIns="0" bIns="0" rtlCol="0" anchor="t"/>
          <a:lstStyle/>
          <a:p>
            <a:pPr marL="0" indent="0" algn="ctr">
              <a:buNone/>
            </a:pPr>
            <a:r>
              <a:rPr lang="en-US" sz="1250" b="1" dirty="0">
                <a:solidFill>
                  <a:srgbClr val="1E5A40"/>
                </a:solidFill>
                <a:latin typeface="Calibri" pitchFamily="34" charset="0"/>
                <a:ea typeface="Calibri" pitchFamily="34" charset="-122"/>
                <a:cs typeface="Calibri" pitchFamily="34" charset="-120"/>
              </a:rPr>
              <a:t>Unresolved? Retry with new search queries</a:t>
            </a:r>
            <a:endParaRPr lang="en-US" sz="1250" dirty="0"/>
          </a:p>
        </p:txBody>
      </p:sp>
      <p:sp>
        <p:nvSpPr>
          <p:cNvPr id="30" name="Shape 27"/>
          <p:cNvSpPr/>
          <p:nvPr/>
        </p:nvSpPr>
        <p:spPr>
          <a:xfrm>
            <a:off x="457200" y="3520440"/>
            <a:ext cx="1188720" cy="274320"/>
          </a:xfrm>
          <a:prstGeom prst="roundRect">
            <a:avLst>
              <a:gd name="adj" fmla="val 26667"/>
            </a:avLst>
          </a:prstGeom>
          <a:solidFill>
            <a:srgbClr val="1E5A40"/>
          </a:solidFill>
          <a:ln w="15875">
            <a:solidFill>
              <a:srgbClr val="1E5A40"/>
            </a:solidFill>
            <a:prstDash val="solid"/>
          </a:ln>
        </p:spPr>
      </p:sp>
      <p:sp>
        <p:nvSpPr>
          <p:cNvPr id="31" name="Text 28"/>
          <p:cNvSpPr txBox="1"/>
          <p:nvPr/>
        </p:nvSpPr>
        <p:spPr>
          <a:xfrm>
            <a:off x="457200" y="3520440"/>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Supported</a:t>
            </a:r>
            <a:endParaRPr lang="en-US" sz="1100" dirty="0"/>
          </a:p>
        </p:txBody>
      </p:sp>
      <p:sp>
        <p:nvSpPr>
          <p:cNvPr id="32" name="Text 29"/>
          <p:cNvSpPr txBox="1"/>
          <p:nvPr/>
        </p:nvSpPr>
        <p:spPr>
          <a:xfrm>
            <a:off x="1737360" y="3520440"/>
            <a:ext cx="1371600" cy="457200"/>
          </a:xfrm>
          <a:prstGeom prst="rect">
            <a:avLst/>
          </a:prstGeom>
          <a:noFill/>
          <a:ln/>
        </p:spPr>
        <p:txBody>
          <a:bodyPr wrap="square" lIns="0" tIns="0" rIns="0" bIns="0" rtlCol="0" anchor="t"/>
          <a:lstStyle/>
          <a:p>
            <a:pPr marL="0" indent="0">
              <a:buNone/>
            </a:pPr>
            <a:r>
              <a:rPr lang="en-US" sz="1200" dirty="0">
                <a:solidFill>
                  <a:srgbClr val="12291F"/>
                </a:solidFill>
                <a:latin typeface="Calibri" pitchFamily="34" charset="0"/>
                <a:ea typeface="Calibri" pitchFamily="34" charset="-122"/>
                <a:cs typeface="Calibri" pitchFamily="34" charset="-120"/>
              </a:rPr>
              <a:t>Sources agree with the claim.</a:t>
            </a:r>
            <a:endParaRPr lang="en-US" sz="1200" dirty="0"/>
          </a:p>
        </p:txBody>
      </p:sp>
      <p:sp>
        <p:nvSpPr>
          <p:cNvPr id="33" name="Shape 30"/>
          <p:cNvSpPr/>
          <p:nvPr/>
        </p:nvSpPr>
        <p:spPr>
          <a:xfrm>
            <a:off x="3246120" y="3520440"/>
            <a:ext cx="1188720" cy="274320"/>
          </a:xfrm>
          <a:prstGeom prst="roundRect">
            <a:avLst>
              <a:gd name="adj" fmla="val 26667"/>
            </a:avLst>
          </a:prstGeom>
          <a:solidFill>
            <a:srgbClr val="F59A0E"/>
          </a:solidFill>
          <a:ln w="15875">
            <a:solidFill>
              <a:srgbClr val="F59A0E"/>
            </a:solidFill>
            <a:prstDash val="solid"/>
          </a:ln>
        </p:spPr>
      </p:sp>
      <p:sp>
        <p:nvSpPr>
          <p:cNvPr id="34" name="Text 31"/>
          <p:cNvSpPr txBox="1"/>
          <p:nvPr/>
        </p:nvSpPr>
        <p:spPr>
          <a:xfrm>
            <a:off x="3246120" y="3520440"/>
            <a:ext cx="1188720" cy="274320"/>
          </a:xfrm>
          <a:prstGeom prst="rect">
            <a:avLst/>
          </a:prstGeom>
          <a:noFill/>
          <a:ln/>
        </p:spPr>
        <p:txBody>
          <a:bodyPr wrap="square" lIns="0" tIns="0" rIns="0" bIns="0" rtlCol="0" anchor="ctr"/>
          <a:lstStyle/>
          <a:p>
            <a:pPr marL="0" indent="0" algn="ctr">
              <a:buNone/>
            </a:pPr>
            <a:r>
              <a:rPr lang="en-US" sz="1100" b="1" dirty="0">
                <a:solidFill>
                  <a:srgbClr val="12291F"/>
                </a:solidFill>
                <a:latin typeface="Calibri" pitchFamily="34" charset="0"/>
                <a:ea typeface="Calibri" pitchFamily="34" charset="-122"/>
                <a:cs typeface="Calibri" pitchFamily="34" charset="-120"/>
              </a:rPr>
              <a:t>Refuted</a:t>
            </a:r>
            <a:endParaRPr lang="en-US" sz="1100" dirty="0"/>
          </a:p>
        </p:txBody>
      </p:sp>
      <p:sp>
        <p:nvSpPr>
          <p:cNvPr id="35" name="Text 32"/>
          <p:cNvSpPr txBox="1"/>
          <p:nvPr/>
        </p:nvSpPr>
        <p:spPr>
          <a:xfrm>
            <a:off x="4526280" y="3520440"/>
            <a:ext cx="1371600" cy="457200"/>
          </a:xfrm>
          <a:prstGeom prst="rect">
            <a:avLst/>
          </a:prstGeom>
          <a:noFill/>
          <a:ln/>
        </p:spPr>
        <p:txBody>
          <a:bodyPr wrap="square" lIns="0" tIns="0" rIns="0" bIns="0" rtlCol="0" anchor="t"/>
          <a:lstStyle/>
          <a:p>
            <a:pPr marL="0" indent="0">
              <a:buNone/>
            </a:pPr>
            <a:r>
              <a:rPr lang="en-US" sz="1200" dirty="0">
                <a:solidFill>
                  <a:srgbClr val="12291F"/>
                </a:solidFill>
                <a:latin typeface="Calibri" pitchFamily="34" charset="0"/>
                <a:ea typeface="Calibri" pitchFamily="34" charset="-122"/>
                <a:cs typeface="Calibri" pitchFamily="34" charset="-120"/>
              </a:rPr>
              <a:t>Sources directly contradict it.</a:t>
            </a:r>
            <a:endParaRPr lang="en-US" sz="1200" dirty="0"/>
          </a:p>
        </p:txBody>
      </p:sp>
      <p:sp>
        <p:nvSpPr>
          <p:cNvPr id="36" name="Shape 33"/>
          <p:cNvSpPr/>
          <p:nvPr/>
        </p:nvSpPr>
        <p:spPr>
          <a:xfrm>
            <a:off x="6035040" y="3520440"/>
            <a:ext cx="1188720" cy="274320"/>
          </a:xfrm>
          <a:prstGeom prst="roundRect">
            <a:avLst>
              <a:gd name="adj" fmla="val 26667"/>
            </a:avLst>
          </a:prstGeom>
          <a:solidFill>
            <a:srgbClr val="FAF9F4"/>
          </a:solidFill>
          <a:ln w="15875">
            <a:solidFill>
              <a:srgbClr val="1E5A40"/>
            </a:solidFill>
            <a:prstDash val="solid"/>
          </a:ln>
        </p:spPr>
      </p:sp>
      <p:sp>
        <p:nvSpPr>
          <p:cNvPr id="37" name="Text 34"/>
          <p:cNvSpPr txBox="1"/>
          <p:nvPr/>
        </p:nvSpPr>
        <p:spPr>
          <a:xfrm>
            <a:off x="6035040" y="3520440"/>
            <a:ext cx="1188720" cy="274320"/>
          </a:xfrm>
          <a:prstGeom prst="rect">
            <a:avLst/>
          </a:prstGeom>
          <a:noFill/>
          <a:ln/>
        </p:spPr>
        <p:txBody>
          <a:bodyPr wrap="square" lIns="0" tIns="0" rIns="0" bIns="0" rtlCol="0" anchor="ctr"/>
          <a:lstStyle/>
          <a:p>
            <a:pPr marL="0" indent="0" algn="ctr">
              <a:buNone/>
            </a:pPr>
            <a:r>
              <a:rPr lang="en-US" sz="1100" b="1" dirty="0">
                <a:solidFill>
                  <a:srgbClr val="1E5A40"/>
                </a:solidFill>
                <a:latin typeface="Calibri" pitchFamily="34" charset="0"/>
                <a:ea typeface="Calibri" pitchFamily="34" charset="-122"/>
                <a:cs typeface="Calibri" pitchFamily="34" charset="-120"/>
              </a:rPr>
              <a:t>Unresolved</a:t>
            </a:r>
            <a:endParaRPr lang="en-US" sz="1100" dirty="0"/>
          </a:p>
        </p:txBody>
      </p:sp>
      <p:sp>
        <p:nvSpPr>
          <p:cNvPr id="38" name="Text 35"/>
          <p:cNvSpPr txBox="1"/>
          <p:nvPr/>
        </p:nvSpPr>
        <p:spPr>
          <a:xfrm>
            <a:off x="7315200" y="3520440"/>
            <a:ext cx="1371600" cy="457200"/>
          </a:xfrm>
          <a:prstGeom prst="rect">
            <a:avLst/>
          </a:prstGeom>
          <a:noFill/>
          <a:ln/>
        </p:spPr>
        <p:txBody>
          <a:bodyPr wrap="square" lIns="0" tIns="0" rIns="0" bIns="0" rtlCol="0" anchor="t"/>
          <a:lstStyle/>
          <a:p>
            <a:pPr marL="0" indent="0">
              <a:buNone/>
            </a:pPr>
            <a:r>
              <a:rPr lang="en-US" sz="1200" dirty="0">
                <a:solidFill>
                  <a:srgbClr val="12291F"/>
                </a:solidFill>
                <a:latin typeface="Calibri" pitchFamily="34" charset="0"/>
                <a:ea typeface="Calibri" pitchFamily="34" charset="-122"/>
                <a:cs typeface="Calibri" pitchFamily="34" charset="-120"/>
              </a:rPr>
              <a:t>Conflicting or thin evidence, even after retries.</a:t>
            </a:r>
            <a:endParaRPr lang="en-US" sz="1200" dirty="0"/>
          </a:p>
        </p:txBody>
      </p:sp>
      <p:sp>
        <p:nvSpPr>
          <p:cNvPr id="39" name="Shape 36"/>
          <p:cNvSpPr/>
          <p:nvPr/>
        </p:nvSpPr>
        <p:spPr>
          <a:xfrm>
            <a:off x="457200" y="4114800"/>
            <a:ext cx="8229600" cy="548640"/>
          </a:xfrm>
          <a:prstGeom prst="rect">
            <a:avLst/>
          </a:prstGeom>
          <a:solidFill>
            <a:srgbClr val="EEEFE7"/>
          </a:solidFill>
          <a:ln w="12700">
            <a:solidFill>
              <a:srgbClr val="EEEFE7"/>
            </a:solidFill>
            <a:prstDash val="solid"/>
          </a:ln>
        </p:spPr>
      </p:sp>
      <p:sp>
        <p:nvSpPr>
          <p:cNvPr id="40" name="Text 37"/>
          <p:cNvSpPr txBox="1"/>
          <p:nvPr/>
        </p:nvSpPr>
        <p:spPr>
          <a:xfrm>
            <a:off x="640080" y="4114800"/>
            <a:ext cx="7863840" cy="548640"/>
          </a:xfrm>
          <a:prstGeom prst="rect">
            <a:avLst/>
          </a:prstGeom>
          <a:noFill/>
          <a:ln/>
        </p:spPr>
        <p:txBody>
          <a:bodyPr wrap="square" lIns="0" tIns="0" rIns="0" bIns="0" rtlCol="0" anchor="ctr"/>
          <a:lstStyle/>
          <a:p>
            <a:pPr marL="0" indent="0">
              <a:buNone/>
            </a:pPr>
            <a:r>
              <a:rPr lang="en-US" sz="1300" b="1" dirty="0">
                <a:solidFill>
                  <a:srgbClr val="1E5A40"/>
                </a:solidFill>
                <a:latin typeface="Calibri" pitchFamily="34" charset="0"/>
                <a:ea typeface="Calibri" pitchFamily="34" charset="-122"/>
                <a:cs typeface="Calibri" pitchFamily="34" charset="-120"/>
              </a:rPr>
              <a:t>Retry loop: </a:t>
            </a:r>
            <a:r>
              <a:rPr lang="en-US" sz="1300" b="0" dirty="0">
                <a:solidFill>
                  <a:srgbClr val="12291F"/>
                </a:solidFill>
                <a:latin typeface="Calibri" pitchFamily="34" charset="0"/>
                <a:ea typeface="Calibri" pitchFamily="34" charset="-122"/>
                <a:cs typeface="Calibri" pitchFamily="34" charset="-120"/>
              </a:rPr>
              <a:t>if the evidence is unclear, the LLM writes new queries and searches again before deciding. Configurable: number of web results, retry attempts and LLM temperature.</a:t>
            </a:r>
            <a:endParaRPr lang="en-US" sz="13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192024"/>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MODULE 3: FACT CHECKER</a:t>
            </a:r>
            <a:endParaRPr lang="en-US" sz="2800" dirty="0"/>
          </a:p>
        </p:txBody>
      </p:sp>
      <p:sp>
        <p:nvSpPr>
          <p:cNvPr id="3" name="Text 1"/>
          <p:cNvSpPr txBox="1"/>
          <p:nvPr/>
        </p:nvSpPr>
        <p:spPr>
          <a:xfrm>
            <a:off x="457200" y="694944"/>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One report, with the evidence path for every claim.</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8</a:t>
            </a:r>
            <a:endParaRPr lang="en-US" sz="1000" dirty="0"/>
          </a:p>
        </p:txBody>
      </p:sp>
      <p:sp>
        <p:nvSpPr>
          <p:cNvPr id="7" name="Text 4"/>
          <p:cNvSpPr txBox="1"/>
          <p:nvPr/>
        </p:nvSpPr>
        <p:spPr>
          <a:xfrm>
            <a:off x="450622" y="1371600"/>
            <a:ext cx="8229600" cy="457200"/>
          </a:xfrm>
          <a:prstGeom prst="rect">
            <a:avLst/>
          </a:prstGeom>
          <a:noFill/>
          <a:ln/>
        </p:spPr>
        <p:txBody>
          <a:bodyPr wrap="square" lIns="0" tIns="0" rIns="0" bIns="0" rtlCol="0" anchor="t"/>
          <a:lstStyle/>
          <a:p>
            <a:pPr marL="0" indent="0">
              <a:buNone/>
            </a:pPr>
            <a:r>
              <a:rPr lang="en-US" sz="1350" dirty="0">
                <a:solidFill>
                  <a:srgbClr val="12291F"/>
                </a:solidFill>
                <a:latin typeface="Calibri" pitchFamily="34" charset="0"/>
                <a:ea typeface="Calibri" pitchFamily="34" charset="-122"/>
                <a:cs typeface="Calibri" pitchFamily="34" charset="-120"/>
              </a:rPr>
              <a:t>The Fact Checker is the orchestrator. It calls the extractor, sends every claim to the verifier, and then builds the final report, so you see the overall picture and every individual claim in one place.</a:t>
            </a:r>
            <a:endParaRPr lang="en-US" sz="1350" dirty="0"/>
          </a:p>
        </p:txBody>
      </p:sp>
      <p:sp>
        <p:nvSpPr>
          <p:cNvPr id="8" name="Text 5"/>
          <p:cNvSpPr txBox="1"/>
          <p:nvPr/>
        </p:nvSpPr>
        <p:spPr>
          <a:xfrm>
            <a:off x="457200" y="1920240"/>
            <a:ext cx="4114800" cy="201168"/>
          </a:xfrm>
          <a:prstGeom prst="rect">
            <a:avLst/>
          </a:prstGeom>
          <a:noFill/>
          <a:ln/>
        </p:spPr>
        <p:txBody>
          <a:bodyPr wrap="square" lIns="0" tIns="0" rIns="0" bIns="0" rtlCol="0" anchor="t"/>
          <a:lstStyle/>
          <a:p>
            <a:pPr marL="0" indent="0">
              <a:buNone/>
            </a:pPr>
            <a:r>
              <a:rPr lang="en-US" sz="1000" b="1" dirty="0">
                <a:solidFill>
                  <a:srgbClr val="5C6B62"/>
                </a:solidFill>
                <a:latin typeface="Calibri" pitchFamily="34" charset="0"/>
                <a:ea typeface="Calibri" pitchFamily="34" charset="-122"/>
                <a:cs typeface="Calibri" pitchFamily="34" charset="-120"/>
              </a:rPr>
              <a:t>SAMPLE REPORT (ILLUSTRATIVE)</a:t>
            </a:r>
            <a:endParaRPr lang="en-US" sz="1000" dirty="0"/>
          </a:p>
        </p:txBody>
      </p:sp>
      <p:sp>
        <p:nvSpPr>
          <p:cNvPr id="9" name="Shape 6"/>
          <p:cNvSpPr/>
          <p:nvPr/>
        </p:nvSpPr>
        <p:spPr>
          <a:xfrm>
            <a:off x="457200" y="2194560"/>
            <a:ext cx="2834640" cy="384048"/>
          </a:xfrm>
          <a:prstGeom prst="rect">
            <a:avLst/>
          </a:prstGeom>
          <a:solidFill>
            <a:srgbClr val="FFFFFF"/>
          </a:solidFill>
          <a:ln w="12700">
            <a:solidFill>
              <a:srgbClr val="B9C2BB"/>
            </a:solidFill>
            <a:prstDash val="solid"/>
          </a:ln>
        </p:spPr>
      </p:sp>
      <p:sp>
        <p:nvSpPr>
          <p:cNvPr id="10" name="Text 7"/>
          <p:cNvSpPr txBox="1"/>
          <p:nvPr/>
        </p:nvSpPr>
        <p:spPr>
          <a:xfrm>
            <a:off x="457200" y="2194560"/>
            <a:ext cx="2834640" cy="384048"/>
          </a:xfrm>
          <a:prstGeom prst="rect">
            <a:avLst/>
          </a:prstGeom>
          <a:noFill/>
          <a:ln/>
        </p:spPr>
        <p:txBody>
          <a:bodyPr wrap="square" lIns="63500" tIns="63500" rIns="63500" bIns="63500" rtlCol="0" anchor="ctr"/>
          <a:lstStyle/>
          <a:p>
            <a:pPr marL="0" indent="0" algn="l">
              <a:buNone/>
            </a:pPr>
            <a:r>
              <a:rPr lang="en-US" sz="1250" dirty="0">
                <a:solidFill>
                  <a:srgbClr val="12291F"/>
                </a:solidFill>
                <a:latin typeface="Calibri" pitchFamily="34" charset="0"/>
                <a:ea typeface="Calibri" pitchFamily="34" charset="-122"/>
                <a:cs typeface="Calibri" pitchFamily="34" charset="-120"/>
              </a:rPr>
              <a:t>Eiffel Tower is in Paris.</a:t>
            </a:r>
            <a:endParaRPr lang="en-US" sz="1250" dirty="0"/>
          </a:p>
        </p:txBody>
      </p:sp>
      <p:sp>
        <p:nvSpPr>
          <p:cNvPr id="11" name="Shape 8"/>
          <p:cNvSpPr/>
          <p:nvPr/>
        </p:nvSpPr>
        <p:spPr>
          <a:xfrm>
            <a:off x="3383280" y="2249424"/>
            <a:ext cx="1188720" cy="274320"/>
          </a:xfrm>
          <a:prstGeom prst="roundRect">
            <a:avLst>
              <a:gd name="adj" fmla="val 26667"/>
            </a:avLst>
          </a:prstGeom>
          <a:solidFill>
            <a:srgbClr val="1E5A40"/>
          </a:solidFill>
          <a:ln w="15875">
            <a:solidFill>
              <a:srgbClr val="1E5A40"/>
            </a:solidFill>
            <a:prstDash val="solid"/>
          </a:ln>
        </p:spPr>
      </p:sp>
      <p:sp>
        <p:nvSpPr>
          <p:cNvPr id="12" name="Text 9"/>
          <p:cNvSpPr txBox="1"/>
          <p:nvPr/>
        </p:nvSpPr>
        <p:spPr>
          <a:xfrm>
            <a:off x="3383280" y="2249424"/>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Supported</a:t>
            </a:r>
            <a:endParaRPr lang="en-US" sz="1100" dirty="0"/>
          </a:p>
        </p:txBody>
      </p:sp>
      <p:sp>
        <p:nvSpPr>
          <p:cNvPr id="13" name="Shape 10"/>
          <p:cNvSpPr/>
          <p:nvPr/>
        </p:nvSpPr>
        <p:spPr>
          <a:xfrm>
            <a:off x="457200" y="2651760"/>
            <a:ext cx="2834640" cy="384048"/>
          </a:xfrm>
          <a:prstGeom prst="rect">
            <a:avLst/>
          </a:prstGeom>
          <a:solidFill>
            <a:srgbClr val="FFFFFF"/>
          </a:solidFill>
          <a:ln w="12700">
            <a:solidFill>
              <a:srgbClr val="B9C2BB"/>
            </a:solidFill>
            <a:prstDash val="solid"/>
          </a:ln>
        </p:spPr>
      </p:sp>
      <p:sp>
        <p:nvSpPr>
          <p:cNvPr id="14" name="Text 11"/>
          <p:cNvSpPr txBox="1"/>
          <p:nvPr/>
        </p:nvSpPr>
        <p:spPr>
          <a:xfrm>
            <a:off x="457200" y="2651760"/>
            <a:ext cx="2834640" cy="384048"/>
          </a:xfrm>
          <a:prstGeom prst="rect">
            <a:avLst/>
          </a:prstGeom>
          <a:noFill/>
          <a:ln/>
        </p:spPr>
        <p:txBody>
          <a:bodyPr wrap="square" lIns="63500" tIns="63500" rIns="63500" bIns="63500" rtlCol="0" anchor="ctr"/>
          <a:lstStyle/>
          <a:p>
            <a:pPr marL="0" indent="0" algn="l">
              <a:buNone/>
            </a:pPr>
            <a:r>
              <a:rPr lang="en-US" sz="1250" dirty="0">
                <a:solidFill>
                  <a:srgbClr val="12291F"/>
                </a:solidFill>
                <a:latin typeface="Calibri" pitchFamily="34" charset="0"/>
                <a:ea typeface="Calibri" pitchFamily="34" charset="-122"/>
                <a:cs typeface="Calibri" pitchFamily="34" charset="-120"/>
              </a:rPr>
              <a:t>Completed in 1889.</a:t>
            </a:r>
            <a:endParaRPr lang="en-US" sz="1250" dirty="0"/>
          </a:p>
        </p:txBody>
      </p:sp>
      <p:sp>
        <p:nvSpPr>
          <p:cNvPr id="15" name="Shape 12"/>
          <p:cNvSpPr/>
          <p:nvPr/>
        </p:nvSpPr>
        <p:spPr>
          <a:xfrm>
            <a:off x="3383280" y="2706624"/>
            <a:ext cx="1188720" cy="274320"/>
          </a:xfrm>
          <a:prstGeom prst="roundRect">
            <a:avLst>
              <a:gd name="adj" fmla="val 26667"/>
            </a:avLst>
          </a:prstGeom>
          <a:solidFill>
            <a:srgbClr val="1E5A40"/>
          </a:solidFill>
          <a:ln w="15875">
            <a:solidFill>
              <a:srgbClr val="1E5A40"/>
            </a:solidFill>
            <a:prstDash val="solid"/>
          </a:ln>
        </p:spPr>
      </p:sp>
      <p:sp>
        <p:nvSpPr>
          <p:cNvPr id="16" name="Text 13"/>
          <p:cNvSpPr txBox="1"/>
          <p:nvPr/>
        </p:nvSpPr>
        <p:spPr>
          <a:xfrm>
            <a:off x="3383280" y="2706624"/>
            <a:ext cx="1188720" cy="274320"/>
          </a:xfrm>
          <a:prstGeom prst="rect">
            <a:avLst/>
          </a:prstGeom>
          <a:noFill/>
          <a:ln/>
        </p:spPr>
        <p:txBody>
          <a:bodyPr wrap="square" lIns="0" tIns="0" rIns="0" bIns="0" rtlCol="0" anchor="ctr"/>
          <a:lstStyle/>
          <a:p>
            <a:pPr marL="0" indent="0" algn="ctr">
              <a:buNone/>
            </a:pPr>
            <a:r>
              <a:rPr lang="en-US" sz="1100" b="1" dirty="0">
                <a:solidFill>
                  <a:srgbClr val="FFFFFF"/>
                </a:solidFill>
                <a:latin typeface="Calibri" pitchFamily="34" charset="0"/>
                <a:ea typeface="Calibri" pitchFamily="34" charset="-122"/>
                <a:cs typeface="Calibri" pitchFamily="34" charset="-120"/>
              </a:rPr>
              <a:t>Supported</a:t>
            </a:r>
            <a:endParaRPr lang="en-US" sz="1100" dirty="0"/>
          </a:p>
        </p:txBody>
      </p:sp>
      <p:sp>
        <p:nvSpPr>
          <p:cNvPr id="17" name="Shape 14"/>
          <p:cNvSpPr/>
          <p:nvPr/>
        </p:nvSpPr>
        <p:spPr>
          <a:xfrm>
            <a:off x="457200" y="3108960"/>
            <a:ext cx="2834640" cy="384048"/>
          </a:xfrm>
          <a:prstGeom prst="rect">
            <a:avLst/>
          </a:prstGeom>
          <a:solidFill>
            <a:srgbClr val="FFFFFF"/>
          </a:solidFill>
          <a:ln w="12700">
            <a:solidFill>
              <a:srgbClr val="B9C2BB"/>
            </a:solidFill>
            <a:prstDash val="solid"/>
          </a:ln>
        </p:spPr>
      </p:sp>
      <p:sp>
        <p:nvSpPr>
          <p:cNvPr id="18" name="Text 15"/>
          <p:cNvSpPr txBox="1"/>
          <p:nvPr/>
        </p:nvSpPr>
        <p:spPr>
          <a:xfrm>
            <a:off x="457200" y="3108960"/>
            <a:ext cx="2834640" cy="384048"/>
          </a:xfrm>
          <a:prstGeom prst="rect">
            <a:avLst/>
          </a:prstGeom>
          <a:noFill/>
          <a:ln/>
        </p:spPr>
        <p:txBody>
          <a:bodyPr wrap="square" lIns="63500" tIns="63500" rIns="63500" bIns="63500" rtlCol="0" anchor="ctr"/>
          <a:lstStyle/>
          <a:p>
            <a:pPr marL="0" indent="0" algn="l">
              <a:buNone/>
            </a:pPr>
            <a:r>
              <a:rPr lang="en-US" sz="1250" dirty="0">
                <a:solidFill>
                  <a:srgbClr val="12291F"/>
                </a:solidFill>
                <a:latin typeface="Calibri" pitchFamily="34" charset="0"/>
                <a:ea typeface="Calibri" pitchFamily="34" charset="-122"/>
                <a:cs typeface="Calibri" pitchFamily="34" charset="-120"/>
              </a:rPr>
              <a:t>It is 500 meters tall.</a:t>
            </a:r>
            <a:endParaRPr lang="en-US" sz="1250" dirty="0"/>
          </a:p>
        </p:txBody>
      </p:sp>
      <p:sp>
        <p:nvSpPr>
          <p:cNvPr id="19" name="Shape 16"/>
          <p:cNvSpPr/>
          <p:nvPr/>
        </p:nvSpPr>
        <p:spPr>
          <a:xfrm>
            <a:off x="3383280" y="3163824"/>
            <a:ext cx="1188720" cy="274320"/>
          </a:xfrm>
          <a:prstGeom prst="roundRect">
            <a:avLst>
              <a:gd name="adj" fmla="val 26667"/>
            </a:avLst>
          </a:prstGeom>
          <a:solidFill>
            <a:srgbClr val="F59A0E"/>
          </a:solidFill>
          <a:ln w="15875">
            <a:solidFill>
              <a:srgbClr val="F59A0E"/>
            </a:solidFill>
            <a:prstDash val="solid"/>
          </a:ln>
        </p:spPr>
      </p:sp>
      <p:sp>
        <p:nvSpPr>
          <p:cNvPr id="20" name="Text 17"/>
          <p:cNvSpPr txBox="1"/>
          <p:nvPr/>
        </p:nvSpPr>
        <p:spPr>
          <a:xfrm>
            <a:off x="3383280" y="3163824"/>
            <a:ext cx="1188720" cy="274320"/>
          </a:xfrm>
          <a:prstGeom prst="rect">
            <a:avLst/>
          </a:prstGeom>
          <a:noFill/>
          <a:ln/>
        </p:spPr>
        <p:txBody>
          <a:bodyPr wrap="square" lIns="0" tIns="0" rIns="0" bIns="0" rtlCol="0" anchor="ctr"/>
          <a:lstStyle/>
          <a:p>
            <a:pPr marL="0" indent="0" algn="ctr">
              <a:buNone/>
            </a:pPr>
            <a:r>
              <a:rPr lang="en-US" sz="1100" b="1" dirty="0">
                <a:solidFill>
                  <a:srgbClr val="12291F"/>
                </a:solidFill>
                <a:latin typeface="Calibri" pitchFamily="34" charset="0"/>
                <a:ea typeface="Calibri" pitchFamily="34" charset="-122"/>
                <a:cs typeface="Calibri" pitchFamily="34" charset="-120"/>
              </a:rPr>
              <a:t>Refuted</a:t>
            </a:r>
            <a:endParaRPr lang="en-US" sz="1100" dirty="0"/>
          </a:p>
        </p:txBody>
      </p:sp>
      <p:sp>
        <p:nvSpPr>
          <p:cNvPr id="21" name="Shape 18"/>
          <p:cNvSpPr/>
          <p:nvPr/>
        </p:nvSpPr>
        <p:spPr>
          <a:xfrm>
            <a:off x="457200" y="3566160"/>
            <a:ext cx="2834640" cy="384048"/>
          </a:xfrm>
          <a:prstGeom prst="rect">
            <a:avLst/>
          </a:prstGeom>
          <a:solidFill>
            <a:srgbClr val="FFFFFF"/>
          </a:solidFill>
          <a:ln w="12700">
            <a:solidFill>
              <a:srgbClr val="B9C2BB"/>
            </a:solidFill>
            <a:prstDash val="solid"/>
          </a:ln>
        </p:spPr>
      </p:sp>
      <p:sp>
        <p:nvSpPr>
          <p:cNvPr id="22" name="Text 19"/>
          <p:cNvSpPr txBox="1"/>
          <p:nvPr/>
        </p:nvSpPr>
        <p:spPr>
          <a:xfrm>
            <a:off x="457200" y="3566160"/>
            <a:ext cx="2834640" cy="384048"/>
          </a:xfrm>
          <a:prstGeom prst="rect">
            <a:avLst/>
          </a:prstGeom>
          <a:noFill/>
          <a:ln/>
        </p:spPr>
        <p:txBody>
          <a:bodyPr wrap="square" lIns="63500" tIns="63500" rIns="63500" bIns="63500" rtlCol="0" anchor="ctr"/>
          <a:lstStyle/>
          <a:p>
            <a:pPr marL="0" indent="0" algn="l">
              <a:buNone/>
            </a:pPr>
            <a:r>
              <a:rPr lang="en-US" sz="1250" dirty="0">
                <a:solidFill>
                  <a:srgbClr val="12291F"/>
                </a:solidFill>
                <a:latin typeface="Calibri" pitchFamily="34" charset="0"/>
                <a:ea typeface="Calibri" pitchFamily="34" charset="-122"/>
                <a:cs typeface="Calibri" pitchFamily="34" charset="-120"/>
              </a:rPr>
              <a:t>Claim with conflicting sources.</a:t>
            </a:r>
            <a:endParaRPr lang="en-US" sz="1250" dirty="0"/>
          </a:p>
        </p:txBody>
      </p:sp>
      <p:sp>
        <p:nvSpPr>
          <p:cNvPr id="23" name="Shape 20"/>
          <p:cNvSpPr/>
          <p:nvPr/>
        </p:nvSpPr>
        <p:spPr>
          <a:xfrm>
            <a:off x="3383280" y="3621024"/>
            <a:ext cx="1188720" cy="274320"/>
          </a:xfrm>
          <a:prstGeom prst="roundRect">
            <a:avLst>
              <a:gd name="adj" fmla="val 26667"/>
            </a:avLst>
          </a:prstGeom>
          <a:solidFill>
            <a:srgbClr val="FAF9F4"/>
          </a:solidFill>
          <a:ln w="15875">
            <a:solidFill>
              <a:srgbClr val="1E5A40"/>
            </a:solidFill>
            <a:prstDash val="solid"/>
          </a:ln>
        </p:spPr>
      </p:sp>
      <p:sp>
        <p:nvSpPr>
          <p:cNvPr id="24" name="Text 21"/>
          <p:cNvSpPr txBox="1"/>
          <p:nvPr/>
        </p:nvSpPr>
        <p:spPr>
          <a:xfrm>
            <a:off x="3383280" y="3621024"/>
            <a:ext cx="1188720" cy="274320"/>
          </a:xfrm>
          <a:prstGeom prst="rect">
            <a:avLst/>
          </a:prstGeom>
          <a:noFill/>
          <a:ln/>
        </p:spPr>
        <p:txBody>
          <a:bodyPr wrap="square" lIns="0" tIns="0" rIns="0" bIns="0" rtlCol="0" anchor="ctr"/>
          <a:lstStyle/>
          <a:p>
            <a:pPr marL="0" indent="0" algn="ctr">
              <a:buNone/>
            </a:pPr>
            <a:r>
              <a:rPr lang="en-US" sz="1100" b="1" dirty="0">
                <a:solidFill>
                  <a:srgbClr val="1E5A40"/>
                </a:solidFill>
                <a:latin typeface="Calibri" pitchFamily="34" charset="0"/>
                <a:ea typeface="Calibri" pitchFamily="34" charset="-122"/>
                <a:cs typeface="Calibri" pitchFamily="34" charset="-120"/>
              </a:rPr>
              <a:t>Unresolved</a:t>
            </a:r>
            <a:endParaRPr lang="en-US" sz="1100" dirty="0"/>
          </a:p>
        </p:txBody>
      </p:sp>
      <p:graphicFrame>
        <p:nvGraphicFramePr>
          <p:cNvPr id="25" name="Chart 0"/>
          <p:cNvGraphicFramePr/>
          <p:nvPr/>
        </p:nvGraphicFramePr>
        <p:xfrm>
          <a:off x="4846320" y="1828800"/>
          <a:ext cx="3840480" cy="2286000"/>
        </p:xfrm>
        <a:graphic>
          <a:graphicData uri="http://schemas.openxmlformats.org/drawingml/2006/chart">
            <c:chart xmlns:c="http://schemas.openxmlformats.org/drawingml/2006/chart" xmlns:r="http://schemas.openxmlformats.org/officeDocument/2006/relationships" r:id="rId3"/>
          </a:graphicData>
        </a:graphic>
      </p:graphicFrame>
      <p:sp>
        <p:nvSpPr>
          <p:cNvPr id="26" name="Shape 22"/>
          <p:cNvSpPr/>
          <p:nvPr/>
        </p:nvSpPr>
        <p:spPr>
          <a:xfrm>
            <a:off x="457200" y="4206240"/>
            <a:ext cx="8229600" cy="457200"/>
          </a:xfrm>
          <a:prstGeom prst="rect">
            <a:avLst/>
          </a:prstGeom>
          <a:solidFill>
            <a:srgbClr val="EEEFE7"/>
          </a:solidFill>
          <a:ln w="12700">
            <a:solidFill>
              <a:srgbClr val="EEEFE7"/>
            </a:solidFill>
            <a:prstDash val="solid"/>
          </a:ln>
        </p:spPr>
      </p:sp>
      <p:sp>
        <p:nvSpPr>
          <p:cNvPr id="27" name="Text 23"/>
          <p:cNvSpPr txBox="1"/>
          <p:nvPr/>
        </p:nvSpPr>
        <p:spPr>
          <a:xfrm>
            <a:off x="640080" y="4206240"/>
            <a:ext cx="7863840" cy="457200"/>
          </a:xfrm>
          <a:prstGeom prst="rect">
            <a:avLst/>
          </a:prstGeom>
          <a:noFill/>
          <a:ln/>
        </p:spPr>
        <p:txBody>
          <a:bodyPr wrap="square" lIns="0" tIns="0" rIns="0" bIns="0" rtlCol="0" anchor="ctr"/>
          <a:lstStyle/>
          <a:p>
            <a:pPr marL="0" indent="0">
              <a:buNone/>
            </a:pPr>
            <a:r>
              <a:rPr lang="en-US" sz="1300" b="1" dirty="0">
                <a:solidFill>
                  <a:srgbClr val="1E5A40"/>
                </a:solidFill>
                <a:latin typeface="Calibri" pitchFamily="34" charset="0"/>
                <a:ea typeface="Calibri" pitchFamily="34" charset="-122"/>
                <a:cs typeface="Calibri" pitchFamily="34" charset="-120"/>
              </a:rPr>
              <a:t>Evidence path: </a:t>
            </a:r>
            <a:r>
              <a:rPr lang="en-US" sz="1300" dirty="0">
                <a:solidFill>
                  <a:srgbClr val="12291F"/>
                </a:solidFill>
                <a:latin typeface="Calibri" pitchFamily="34" charset="0"/>
                <a:ea typeface="Calibri" pitchFamily="34" charset="-122"/>
                <a:cs typeface="Calibri" pitchFamily="34" charset="-120"/>
              </a:rPr>
              <a:t>for every claim the report keeps the search queries, the retrieved sources and the reasoning behind the verdict, so any result can be traced and double-checked.</a:t>
            </a:r>
            <a:endParaRPr lang="en-US" sz="13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FEASIBILITY &amp; COMPETITORS</a:t>
            </a:r>
            <a:endParaRPr lang="en-US" sz="2800" dirty="0"/>
          </a:p>
        </p:txBody>
      </p:sp>
      <p:sp>
        <p:nvSpPr>
          <p:cNvPr id="3" name="Text 1"/>
          <p:cNvSpPr txBox="1"/>
          <p:nvPr/>
        </p:nvSpPr>
        <p:spPr>
          <a:xfrm>
            <a:off x="457200" y="690208"/>
            <a:ext cx="8229600" cy="548640"/>
          </a:xfrm>
          <a:prstGeom prst="rect">
            <a:avLst/>
          </a:prstGeom>
          <a:noFill/>
          <a:ln/>
        </p:spPr>
        <p:txBody>
          <a:bodyPr wrap="square" lIns="0" tIns="0" rIns="0" bIns="0" rtlCol="0" anchor="t"/>
          <a:lstStyle/>
          <a:p>
            <a:pPr marL="0" indent="0">
              <a:buNone/>
            </a:pPr>
            <a:r>
              <a:rPr lang="en-US" sz="1600" b="1" dirty="0" err="1">
                <a:solidFill>
                  <a:srgbClr val="12291F"/>
                </a:solidFill>
                <a:latin typeface="Cambria" pitchFamily="34" charset="0"/>
                <a:ea typeface="Cambria" pitchFamily="34" charset="-122"/>
                <a:cs typeface="Cambria" pitchFamily="34" charset="-120"/>
              </a:rPr>
              <a:t>FactFinder</a:t>
            </a:r>
            <a:r>
              <a:rPr lang="en-US" sz="1600" b="1" dirty="0">
                <a:solidFill>
                  <a:srgbClr val="12291F"/>
                </a:solidFill>
                <a:latin typeface="Cambria" pitchFamily="34" charset="0"/>
                <a:ea typeface="Cambria" pitchFamily="34" charset="-122"/>
                <a:cs typeface="Cambria" pitchFamily="34" charset="-120"/>
              </a:rPr>
              <a:t> makes uncertainty inspectable.</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9</a:t>
            </a:r>
            <a:endParaRPr lang="en-US" sz="1000" dirty="0"/>
          </a:p>
        </p:txBody>
      </p:sp>
      <p:graphicFrame>
        <p:nvGraphicFramePr>
          <p:cNvPr id="10" name="Table 0"/>
          <p:cNvGraphicFramePr>
            <a:graphicFrameLocks noGrp="1"/>
          </p:cNvGraphicFramePr>
          <p:nvPr>
            <p:extLst>
              <p:ext uri="{D42A27DB-BD31-4B8C-83A1-F6EECF244321}">
                <p14:modId xmlns:p14="http://schemas.microsoft.com/office/powerpoint/2010/main" val="343801250"/>
              </p:ext>
            </p:extLst>
          </p:nvPr>
        </p:nvGraphicFramePr>
        <p:xfrm>
          <a:off x="457200" y="1371600"/>
          <a:ext cx="8229600" cy="1828800"/>
        </p:xfrm>
        <a:graphic>
          <a:graphicData uri="http://schemas.openxmlformats.org/drawingml/2006/table">
            <a:tbl>
              <a:tblPr/>
              <a:tblGrid>
                <a:gridCol w="1920240">
                  <a:extLst>
                    <a:ext uri="{9D8B030D-6E8A-4147-A177-3AD203B41FA5}">
                      <a16:colId xmlns:a16="http://schemas.microsoft.com/office/drawing/2014/main" val="20000"/>
                    </a:ext>
                  </a:extLst>
                </a:gridCol>
                <a:gridCol w="1920240">
                  <a:extLst>
                    <a:ext uri="{9D8B030D-6E8A-4147-A177-3AD203B41FA5}">
                      <a16:colId xmlns:a16="http://schemas.microsoft.com/office/drawing/2014/main" val="20001"/>
                    </a:ext>
                  </a:extLst>
                </a:gridCol>
                <a:gridCol w="1920240">
                  <a:extLst>
                    <a:ext uri="{9D8B030D-6E8A-4147-A177-3AD203B41FA5}">
                      <a16:colId xmlns:a16="http://schemas.microsoft.com/office/drawing/2014/main" val="20002"/>
                    </a:ext>
                  </a:extLst>
                </a:gridCol>
                <a:gridCol w="2468880">
                  <a:extLst>
                    <a:ext uri="{9D8B030D-6E8A-4147-A177-3AD203B41FA5}">
                      <a16:colId xmlns:a16="http://schemas.microsoft.com/office/drawing/2014/main" val="20003"/>
                    </a:ext>
                  </a:extLst>
                </a:gridCol>
              </a:tblGrid>
              <a:tr h="365760">
                <a:tc>
                  <a:txBody>
                    <a:bodyPr/>
                    <a:lstStyle/>
                    <a:p>
                      <a:pPr marL="0" indent="0">
                        <a:buNone/>
                      </a:pPr>
                      <a:r>
                        <a:rPr lang="en-US" sz="1300" b="1" dirty="0">
                          <a:solidFill>
                            <a:srgbClr val="12291F"/>
                          </a:solidFill>
                          <a:latin typeface="Calibri" pitchFamily="34" charset="0"/>
                          <a:ea typeface="Calibri" pitchFamily="34" charset="-122"/>
                          <a:cs typeface="Calibri" pitchFamily="34" charset="-120"/>
                        </a:rPr>
                        <a:t>Capability</a:t>
                      </a:r>
                      <a:endParaRPr lang="en-US" sz="13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300" b="1" dirty="0">
                          <a:solidFill>
                            <a:srgbClr val="12291F"/>
                          </a:solidFill>
                          <a:latin typeface="Calibri" pitchFamily="34" charset="0"/>
                          <a:ea typeface="Calibri" pitchFamily="34" charset="-122"/>
                          <a:cs typeface="Calibri" pitchFamily="34" charset="-120"/>
                        </a:rPr>
                        <a:t>Generic chat</a:t>
                      </a:r>
                      <a:endParaRPr lang="en-US" sz="13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300" b="1" dirty="0">
                          <a:solidFill>
                            <a:srgbClr val="12291F"/>
                          </a:solidFill>
                          <a:latin typeface="Calibri" pitchFamily="34" charset="0"/>
                          <a:ea typeface="Calibri" pitchFamily="34" charset="-122"/>
                          <a:cs typeface="Calibri" pitchFamily="34" charset="-120"/>
                        </a:rPr>
                        <a:t>Basic search</a:t>
                      </a:r>
                      <a:endParaRPr lang="en-US" sz="13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300" b="1" dirty="0" err="1">
                          <a:solidFill>
                            <a:srgbClr val="12291F"/>
                          </a:solidFill>
                          <a:latin typeface="Calibri" pitchFamily="34" charset="0"/>
                          <a:ea typeface="Calibri" pitchFamily="34" charset="-122"/>
                          <a:cs typeface="Calibri" pitchFamily="34" charset="-120"/>
                        </a:rPr>
                        <a:t>FactFinder</a:t>
                      </a:r>
                      <a:endParaRPr lang="en-US" sz="13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0"/>
                  </a:ext>
                </a:extLst>
              </a:tr>
              <a:tr h="365760">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Primary output</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An answer</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A list of sources</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b="1" dirty="0">
                          <a:solidFill>
                            <a:srgbClr val="12291F"/>
                          </a:solidFill>
                          <a:latin typeface="Calibri" pitchFamily="34" charset="0"/>
                          <a:ea typeface="Calibri" pitchFamily="34" charset="-122"/>
                          <a:cs typeface="Calibri" pitchFamily="34" charset="-120"/>
                        </a:rPr>
                        <a:t>Claim-level results</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1"/>
                  </a:ext>
                </a:extLst>
              </a:tr>
              <a:tr h="365760">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Checks each statement</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No</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b="1" dirty="0">
                          <a:solidFill>
                            <a:srgbClr val="12291F"/>
                          </a:solidFill>
                          <a:latin typeface="Calibri" pitchFamily="34" charset="0"/>
                          <a:ea typeface="Calibri" pitchFamily="34" charset="-122"/>
                          <a:cs typeface="Calibri" pitchFamily="34" charset="-120"/>
                        </a:rPr>
                        <a:t>Yes</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2"/>
                  </a:ext>
                </a:extLst>
              </a:tr>
              <a:tr h="365760">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Evidence path</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Not necessarily structured</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Retrieved sources only</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b="1" dirty="0">
                          <a:solidFill>
                            <a:srgbClr val="12291F"/>
                          </a:solidFill>
                          <a:latin typeface="Calibri" pitchFamily="34" charset="0"/>
                          <a:ea typeface="Calibri" pitchFamily="34" charset="-122"/>
                          <a:cs typeface="Calibri" pitchFamily="34" charset="-120"/>
                        </a:rPr>
                        <a:t>Linked to each claim</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3"/>
                  </a:ext>
                </a:extLst>
              </a:tr>
              <a:tr h="365760">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Uncertainty</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May be hidden</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dirty="0">
                          <a:solidFill>
                            <a:srgbClr val="12291F"/>
                          </a:solidFill>
                          <a:latin typeface="Calibri" pitchFamily="34" charset="0"/>
                          <a:ea typeface="Calibri" pitchFamily="34" charset="-122"/>
                          <a:cs typeface="Calibri" pitchFamily="34" charset="-120"/>
                        </a:rPr>
                        <a:t>Needs interpretation</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FAF9F4"/>
                    </a:solidFill>
                  </a:tcPr>
                </a:tc>
                <a:tc>
                  <a:txBody>
                    <a:bodyPr/>
                    <a:lstStyle/>
                    <a:p>
                      <a:pPr marL="0" indent="0">
                        <a:buNone/>
                      </a:pPr>
                      <a:r>
                        <a:rPr lang="en-US" sz="1200" b="1" dirty="0">
                          <a:solidFill>
                            <a:srgbClr val="12291F"/>
                          </a:solidFill>
                          <a:latin typeface="Calibri" pitchFamily="34" charset="0"/>
                          <a:ea typeface="Calibri" pitchFamily="34" charset="-122"/>
                          <a:cs typeface="Calibri" pitchFamily="34" charset="-120"/>
                        </a:rPr>
                        <a:t>Supported, refuted or unresolved</a:t>
                      </a:r>
                      <a:endParaRPr lang="en-US" sz="1200" dirty="0">
                        <a:latin typeface="Calibri" charset="0"/>
                        <a:ea typeface="Calibri" charset="0"/>
                        <a:cs typeface="Calibri" charset="0"/>
                      </a:endParaRPr>
                    </a:p>
                  </a:txBody>
                  <a:tcPr marL="73152" marR="73152" marT="73152" marB="73152" anchor="ctr">
                    <a:lnL w="9525" cap="flat" cmpd="sng" algn="ctr">
                      <a:solidFill>
                        <a:srgbClr val="B9C2BB"/>
                      </a:solidFill>
                      <a:prstDash val="solid"/>
                      <a:round/>
                      <a:headEnd type="none" w="med" len="med"/>
                      <a:tailEnd type="none" w="med" len="med"/>
                    </a:lnL>
                    <a:lnR w="9525" cap="flat" cmpd="sng" algn="ctr">
                      <a:solidFill>
                        <a:srgbClr val="B9C2BB"/>
                      </a:solidFill>
                      <a:prstDash val="solid"/>
                      <a:round/>
                      <a:headEnd type="none" w="med" len="med"/>
                      <a:tailEnd type="none" w="med" len="med"/>
                    </a:lnR>
                    <a:lnT w="9525" cap="flat" cmpd="sng" algn="ctr">
                      <a:solidFill>
                        <a:srgbClr val="B9C2BB"/>
                      </a:solidFill>
                      <a:prstDash val="solid"/>
                      <a:round/>
                      <a:headEnd type="none" w="med" len="med"/>
                      <a:tailEnd type="none" w="med" len="med"/>
                    </a:lnT>
                    <a:lnB w="9525" cap="flat" cmpd="sng" algn="ctr">
                      <a:solidFill>
                        <a:srgbClr val="B9C2BB"/>
                      </a:solidFill>
                      <a:prstDash val="solid"/>
                      <a:round/>
                      <a:headEnd type="none" w="med" len="med"/>
                      <a:tailEnd type="none" w="med" len="med"/>
                    </a:lnB>
                    <a:solidFill>
                      <a:srgbClr val="EEEFE7"/>
                    </a:solidFill>
                  </a:tcPr>
                </a:tc>
                <a:extLst>
                  <a:ext uri="{0D108BD9-81ED-4DB2-BD59-A6C34878D82A}">
                    <a16:rowId xmlns:a16="http://schemas.microsoft.com/office/drawing/2014/main" val="10004"/>
                  </a:ext>
                </a:extLst>
              </a:tr>
            </a:tbl>
          </a:graphicData>
        </a:graphic>
      </p:graphicFrame>
      <p:sp>
        <p:nvSpPr>
          <p:cNvPr id="8" name="Text 4"/>
          <p:cNvSpPr txBox="1"/>
          <p:nvPr/>
        </p:nvSpPr>
        <p:spPr>
          <a:xfrm>
            <a:off x="457200" y="3337560"/>
            <a:ext cx="3657600" cy="201168"/>
          </a:xfrm>
          <a:prstGeom prst="rect">
            <a:avLst/>
          </a:prstGeom>
          <a:noFill/>
          <a:ln/>
        </p:spPr>
        <p:txBody>
          <a:bodyPr wrap="square" lIns="0" tIns="0" rIns="0" bIns="0" rtlCol="0" anchor="t"/>
          <a:lstStyle/>
          <a:p>
            <a:pPr marL="0" indent="0">
              <a:buNone/>
            </a:pPr>
            <a:r>
              <a:rPr lang="en-US" sz="1000" b="1" dirty="0">
                <a:solidFill>
                  <a:srgbClr val="5C6B62"/>
                </a:solidFill>
                <a:latin typeface="Calibri" pitchFamily="34" charset="0"/>
                <a:ea typeface="Calibri" pitchFamily="34" charset="-122"/>
                <a:cs typeface="Calibri" pitchFamily="34" charset="-120"/>
              </a:rPr>
              <a:t>WHY IT MATTERS</a:t>
            </a:r>
            <a:endParaRPr lang="en-US" sz="1000" dirty="0"/>
          </a:p>
        </p:txBody>
      </p:sp>
      <p:sp>
        <p:nvSpPr>
          <p:cNvPr id="9" name="Shape 5"/>
          <p:cNvSpPr/>
          <p:nvPr/>
        </p:nvSpPr>
        <p:spPr>
          <a:xfrm>
            <a:off x="457200" y="3611880"/>
            <a:ext cx="1947672" cy="1051560"/>
          </a:xfrm>
          <a:prstGeom prst="rect">
            <a:avLst/>
          </a:prstGeom>
          <a:solidFill>
            <a:srgbClr val="EEEFE7"/>
          </a:solidFill>
          <a:ln w="12700">
            <a:solidFill>
              <a:srgbClr val="EEEFE7"/>
            </a:solidFill>
            <a:prstDash val="solid"/>
          </a:ln>
        </p:spPr>
      </p:sp>
      <p:sp>
        <p:nvSpPr>
          <p:cNvPr id="6" name="Text 6"/>
          <p:cNvSpPr txBox="1"/>
          <p:nvPr/>
        </p:nvSpPr>
        <p:spPr>
          <a:xfrm>
            <a:off x="566928" y="3675888"/>
            <a:ext cx="1737360" cy="256032"/>
          </a:xfrm>
          <a:prstGeom prst="rect">
            <a:avLst/>
          </a:prstGeom>
          <a:noFill/>
          <a:ln/>
        </p:spPr>
        <p:txBody>
          <a:bodyPr wrap="square" lIns="0" tIns="0" rIns="0" bIns="0" rtlCol="0" anchor="t"/>
          <a:lstStyle/>
          <a:p>
            <a:pPr marL="0" indent="0">
              <a:buNone/>
            </a:pPr>
            <a:r>
              <a:rPr lang="en-US" sz="1350" b="1" dirty="0">
                <a:solidFill>
                  <a:srgbClr val="1E5A40"/>
                </a:solidFill>
                <a:latin typeface="Calibri" pitchFamily="34" charset="0"/>
                <a:ea typeface="Calibri" pitchFamily="34" charset="-122"/>
                <a:cs typeface="Calibri" pitchFamily="34" charset="-120"/>
              </a:rPr>
              <a:t>Claim-level</a:t>
            </a:r>
            <a:endParaRPr lang="en-US" sz="1350" dirty="0"/>
          </a:p>
        </p:txBody>
      </p:sp>
      <p:sp>
        <p:nvSpPr>
          <p:cNvPr id="11" name="Text 7"/>
          <p:cNvSpPr txBox="1"/>
          <p:nvPr/>
        </p:nvSpPr>
        <p:spPr>
          <a:xfrm>
            <a:off x="566928" y="3959352"/>
            <a:ext cx="1737360" cy="68580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Each statement is judged on its own, so uncertainty stays attached to the exact claim that needs review.</a:t>
            </a:r>
            <a:endParaRPr lang="en-US" sz="1200" dirty="0"/>
          </a:p>
        </p:txBody>
      </p:sp>
      <p:sp>
        <p:nvSpPr>
          <p:cNvPr id="12" name="Shape 8"/>
          <p:cNvSpPr/>
          <p:nvPr/>
        </p:nvSpPr>
        <p:spPr>
          <a:xfrm>
            <a:off x="2542032" y="3611880"/>
            <a:ext cx="1947672" cy="1051560"/>
          </a:xfrm>
          <a:prstGeom prst="rect">
            <a:avLst/>
          </a:prstGeom>
          <a:solidFill>
            <a:srgbClr val="EEEFE7"/>
          </a:solidFill>
          <a:ln w="12700">
            <a:solidFill>
              <a:srgbClr val="EEEFE7"/>
            </a:solidFill>
            <a:prstDash val="solid"/>
          </a:ln>
        </p:spPr>
      </p:sp>
      <p:sp>
        <p:nvSpPr>
          <p:cNvPr id="13" name="Text 9"/>
          <p:cNvSpPr txBox="1"/>
          <p:nvPr/>
        </p:nvSpPr>
        <p:spPr>
          <a:xfrm>
            <a:off x="2651760" y="3675888"/>
            <a:ext cx="1737360" cy="256032"/>
          </a:xfrm>
          <a:prstGeom prst="rect">
            <a:avLst/>
          </a:prstGeom>
          <a:noFill/>
          <a:ln/>
        </p:spPr>
        <p:txBody>
          <a:bodyPr wrap="square" lIns="0" tIns="0" rIns="0" bIns="0" rtlCol="0" anchor="t"/>
          <a:lstStyle/>
          <a:p>
            <a:pPr marL="0" indent="0">
              <a:buNone/>
            </a:pPr>
            <a:r>
              <a:rPr lang="en-US" sz="1350" b="1" dirty="0">
                <a:solidFill>
                  <a:srgbClr val="1E5A40"/>
                </a:solidFill>
                <a:latin typeface="Calibri" pitchFamily="34" charset="0"/>
                <a:ea typeface="Calibri" pitchFamily="34" charset="-122"/>
                <a:cs typeface="Calibri" pitchFamily="34" charset="-120"/>
              </a:rPr>
              <a:t>Explainable</a:t>
            </a:r>
            <a:endParaRPr lang="en-US" sz="1350" dirty="0"/>
          </a:p>
        </p:txBody>
      </p:sp>
      <p:sp>
        <p:nvSpPr>
          <p:cNvPr id="14" name="Text 10"/>
          <p:cNvSpPr txBox="1"/>
          <p:nvPr/>
        </p:nvSpPr>
        <p:spPr>
          <a:xfrm>
            <a:off x="2651760" y="3959352"/>
            <a:ext cx="1737360" cy="68580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Extraction, retrieval, verification and reporting are separate stages, so each can be inspected.</a:t>
            </a:r>
            <a:endParaRPr lang="en-US" sz="1200" dirty="0"/>
          </a:p>
        </p:txBody>
      </p:sp>
      <p:sp>
        <p:nvSpPr>
          <p:cNvPr id="15" name="Shape 11"/>
          <p:cNvSpPr/>
          <p:nvPr/>
        </p:nvSpPr>
        <p:spPr>
          <a:xfrm>
            <a:off x="4626864" y="3611880"/>
            <a:ext cx="1947672" cy="1051560"/>
          </a:xfrm>
          <a:prstGeom prst="rect">
            <a:avLst/>
          </a:prstGeom>
          <a:solidFill>
            <a:srgbClr val="EEEFE7"/>
          </a:solidFill>
          <a:ln w="12700">
            <a:solidFill>
              <a:srgbClr val="EEEFE7"/>
            </a:solidFill>
            <a:prstDash val="solid"/>
          </a:ln>
        </p:spPr>
      </p:sp>
      <p:sp>
        <p:nvSpPr>
          <p:cNvPr id="16" name="Text 12"/>
          <p:cNvSpPr txBox="1"/>
          <p:nvPr/>
        </p:nvSpPr>
        <p:spPr>
          <a:xfrm>
            <a:off x="4736592" y="3675888"/>
            <a:ext cx="1737360" cy="256032"/>
          </a:xfrm>
          <a:prstGeom prst="rect">
            <a:avLst/>
          </a:prstGeom>
          <a:noFill/>
          <a:ln/>
        </p:spPr>
        <p:txBody>
          <a:bodyPr wrap="square" lIns="0" tIns="0" rIns="0" bIns="0" rtlCol="0" anchor="t"/>
          <a:lstStyle/>
          <a:p>
            <a:pPr marL="0" indent="0">
              <a:buNone/>
            </a:pPr>
            <a:r>
              <a:rPr lang="en-US" sz="1350" b="1" dirty="0">
                <a:solidFill>
                  <a:srgbClr val="1E5A40"/>
                </a:solidFill>
                <a:latin typeface="Calibri" pitchFamily="34" charset="0"/>
                <a:ea typeface="Calibri" pitchFamily="34" charset="-122"/>
                <a:cs typeface="Calibri" pitchFamily="34" charset="-120"/>
              </a:rPr>
              <a:t>Honest</a:t>
            </a:r>
            <a:endParaRPr lang="en-US" sz="1350" dirty="0"/>
          </a:p>
        </p:txBody>
      </p:sp>
      <p:sp>
        <p:nvSpPr>
          <p:cNvPr id="17" name="Text 13"/>
          <p:cNvSpPr txBox="1"/>
          <p:nvPr/>
        </p:nvSpPr>
        <p:spPr>
          <a:xfrm>
            <a:off x="4736592" y="3959352"/>
            <a:ext cx="1737360" cy="68580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Conflicting or insufficient evidence stays visible as unresolved instead of being forced into true or false.</a:t>
            </a:r>
            <a:endParaRPr lang="en-US" sz="1200" dirty="0"/>
          </a:p>
        </p:txBody>
      </p:sp>
      <p:sp>
        <p:nvSpPr>
          <p:cNvPr id="18" name="Shape 14"/>
          <p:cNvSpPr/>
          <p:nvPr/>
        </p:nvSpPr>
        <p:spPr>
          <a:xfrm>
            <a:off x="6711696" y="3611880"/>
            <a:ext cx="1947672" cy="1051560"/>
          </a:xfrm>
          <a:prstGeom prst="rect">
            <a:avLst/>
          </a:prstGeom>
          <a:solidFill>
            <a:srgbClr val="EEEFE7"/>
          </a:solidFill>
          <a:ln w="12700">
            <a:solidFill>
              <a:srgbClr val="EEEFE7"/>
            </a:solidFill>
            <a:prstDash val="solid"/>
          </a:ln>
        </p:spPr>
      </p:sp>
      <p:sp>
        <p:nvSpPr>
          <p:cNvPr id="19" name="Text 15"/>
          <p:cNvSpPr txBox="1"/>
          <p:nvPr/>
        </p:nvSpPr>
        <p:spPr>
          <a:xfrm>
            <a:off x="6821424" y="3675888"/>
            <a:ext cx="1737360" cy="256032"/>
          </a:xfrm>
          <a:prstGeom prst="rect">
            <a:avLst/>
          </a:prstGeom>
          <a:noFill/>
          <a:ln/>
        </p:spPr>
        <p:txBody>
          <a:bodyPr wrap="square" lIns="0" tIns="0" rIns="0" bIns="0" rtlCol="0" anchor="t"/>
          <a:lstStyle/>
          <a:p>
            <a:pPr marL="0" indent="0">
              <a:buNone/>
            </a:pPr>
            <a:r>
              <a:rPr lang="en-US" sz="1350" b="1" dirty="0">
                <a:solidFill>
                  <a:srgbClr val="1E5A40"/>
                </a:solidFill>
                <a:latin typeface="Calibri" pitchFamily="34" charset="0"/>
                <a:ea typeface="Calibri" pitchFamily="34" charset="-122"/>
                <a:cs typeface="Calibri" pitchFamily="34" charset="-120"/>
              </a:rPr>
              <a:t>Controllable</a:t>
            </a:r>
            <a:endParaRPr lang="en-US" sz="1350" dirty="0"/>
          </a:p>
        </p:txBody>
      </p:sp>
      <p:sp>
        <p:nvSpPr>
          <p:cNvPr id="20" name="Text 16"/>
          <p:cNvSpPr txBox="1"/>
          <p:nvPr/>
        </p:nvSpPr>
        <p:spPr>
          <a:xfrm>
            <a:off x="6821424" y="3959352"/>
            <a:ext cx="1737360" cy="68580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LLM voting and multi-retry search give ambiguous cases a path to a better answer.</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AF9F4"/>
        </a:solidFill>
        <a:effectLst/>
      </p:bgPr>
    </p:bg>
    <p:spTree>
      <p:nvGrpSpPr>
        <p:cNvPr id="1" name=""/>
        <p:cNvGrpSpPr/>
        <p:nvPr/>
      </p:nvGrpSpPr>
      <p:grpSpPr>
        <a:xfrm>
          <a:off x="0" y="0"/>
          <a:ext cx="0" cy="0"/>
          <a:chOff x="0" y="0"/>
          <a:chExt cx="0" cy="0"/>
        </a:xfrm>
      </p:grpSpPr>
      <p:sp>
        <p:nvSpPr>
          <p:cNvPr id="2" name="Text 0"/>
          <p:cNvSpPr txBox="1"/>
          <p:nvPr/>
        </p:nvSpPr>
        <p:spPr>
          <a:xfrm>
            <a:off x="457200" y="256032"/>
            <a:ext cx="7315200" cy="228600"/>
          </a:xfrm>
          <a:prstGeom prst="rect">
            <a:avLst/>
          </a:prstGeom>
          <a:noFill/>
          <a:ln/>
        </p:spPr>
        <p:txBody>
          <a:bodyPr wrap="square" lIns="0" tIns="0" rIns="0" bIns="0" rtlCol="0" anchor="t"/>
          <a:lstStyle/>
          <a:p>
            <a:pPr marL="0" indent="0">
              <a:buNone/>
            </a:pPr>
            <a:r>
              <a:rPr lang="en-US" sz="2800" b="1" kern="0" spc="100" dirty="0">
                <a:solidFill>
                  <a:srgbClr val="5C6B62"/>
                </a:solidFill>
                <a:latin typeface="Calibri" pitchFamily="34" charset="0"/>
                <a:ea typeface="Calibri" pitchFamily="34" charset="-122"/>
                <a:cs typeface="Calibri" pitchFamily="34" charset="-120"/>
              </a:rPr>
              <a:t>FEASIBILITY, SETUP &amp; RESEARCH</a:t>
            </a:r>
            <a:endParaRPr lang="en-US" sz="2800" dirty="0"/>
          </a:p>
        </p:txBody>
      </p:sp>
      <p:sp>
        <p:nvSpPr>
          <p:cNvPr id="3" name="Text 1"/>
          <p:cNvSpPr txBox="1"/>
          <p:nvPr/>
        </p:nvSpPr>
        <p:spPr>
          <a:xfrm>
            <a:off x="459831" y="731520"/>
            <a:ext cx="8229600" cy="548640"/>
          </a:xfrm>
          <a:prstGeom prst="rect">
            <a:avLst/>
          </a:prstGeom>
          <a:noFill/>
          <a:ln/>
        </p:spPr>
        <p:txBody>
          <a:bodyPr wrap="square" lIns="0" tIns="0" rIns="0" bIns="0" rtlCol="0" anchor="t"/>
          <a:lstStyle/>
          <a:p>
            <a:pPr marL="0" indent="0">
              <a:buNone/>
            </a:pPr>
            <a:r>
              <a:rPr lang="en-US" sz="1600" b="1" dirty="0">
                <a:solidFill>
                  <a:srgbClr val="12291F"/>
                </a:solidFill>
                <a:latin typeface="Cambria" pitchFamily="34" charset="0"/>
                <a:ea typeface="Cambria" pitchFamily="34" charset="-122"/>
                <a:cs typeface="Cambria" pitchFamily="34" charset="-120"/>
              </a:rPr>
              <a:t>Feasible now, with a clear path ahead.</a:t>
            </a:r>
            <a:endParaRPr lang="en-US" sz="1600" dirty="0"/>
          </a:p>
        </p:txBody>
      </p:sp>
      <p:sp>
        <p:nvSpPr>
          <p:cNvPr id="4" name="Shape 2"/>
          <p:cNvSpPr/>
          <p:nvPr/>
        </p:nvSpPr>
        <p:spPr>
          <a:xfrm>
            <a:off x="457200" y="1143000"/>
            <a:ext cx="1463040" cy="45720"/>
          </a:xfrm>
          <a:prstGeom prst="rect">
            <a:avLst/>
          </a:prstGeom>
          <a:solidFill>
            <a:srgbClr val="F59A0E"/>
          </a:solidFill>
          <a:ln w="12700">
            <a:solidFill>
              <a:srgbClr val="F59A0E"/>
            </a:solidFill>
            <a:prstDash val="solid"/>
          </a:ln>
        </p:spPr>
      </p:sp>
      <p:sp>
        <p:nvSpPr>
          <p:cNvPr id="5" name="Text 3"/>
          <p:cNvSpPr txBox="1"/>
          <p:nvPr/>
        </p:nvSpPr>
        <p:spPr>
          <a:xfrm>
            <a:off x="8321040" y="4800600"/>
            <a:ext cx="365760" cy="228600"/>
          </a:xfrm>
          <a:prstGeom prst="rect">
            <a:avLst/>
          </a:prstGeom>
          <a:noFill/>
          <a:ln/>
        </p:spPr>
        <p:txBody>
          <a:bodyPr wrap="square" lIns="0" tIns="0" rIns="0" bIns="0" rtlCol="0" anchor="t"/>
          <a:lstStyle/>
          <a:p>
            <a:pPr marL="0" indent="0" algn="r">
              <a:buNone/>
            </a:pPr>
            <a:r>
              <a:rPr lang="en-US" sz="1000" dirty="0">
                <a:solidFill>
                  <a:srgbClr val="5C6B62"/>
                </a:solidFill>
                <a:latin typeface="Calibri" pitchFamily="34" charset="0"/>
                <a:ea typeface="Calibri" pitchFamily="34" charset="-122"/>
                <a:cs typeface="Calibri" pitchFamily="34" charset="-120"/>
              </a:rPr>
              <a:t>10</a:t>
            </a:r>
            <a:endParaRPr lang="en-US" sz="1000" dirty="0"/>
          </a:p>
        </p:txBody>
      </p:sp>
      <p:sp>
        <p:nvSpPr>
          <p:cNvPr id="7" name="Text 4"/>
          <p:cNvSpPr txBox="1"/>
          <p:nvPr/>
        </p:nvSpPr>
        <p:spPr>
          <a:xfrm>
            <a:off x="457200" y="1371600"/>
            <a:ext cx="2743200" cy="201168"/>
          </a:xfrm>
          <a:prstGeom prst="rect">
            <a:avLst/>
          </a:prstGeom>
          <a:noFill/>
          <a:ln/>
        </p:spPr>
        <p:txBody>
          <a:bodyPr wrap="square" lIns="0" tIns="0" rIns="0" bIns="0" rtlCol="0" anchor="t"/>
          <a:lstStyle/>
          <a:p>
            <a:pPr marL="0" indent="0">
              <a:buNone/>
            </a:pPr>
            <a:r>
              <a:rPr lang="en-US" sz="1000" b="1" dirty="0">
                <a:solidFill>
                  <a:srgbClr val="5C6B62"/>
                </a:solidFill>
                <a:latin typeface="Calibri" pitchFamily="34" charset="0"/>
                <a:ea typeface="Calibri" pitchFamily="34" charset="-122"/>
                <a:cs typeface="Calibri" pitchFamily="34" charset="-120"/>
              </a:rPr>
              <a:t>RUN IT LOCALLY</a:t>
            </a:r>
            <a:endParaRPr lang="en-US" sz="1000" dirty="0"/>
          </a:p>
        </p:txBody>
      </p:sp>
      <p:sp>
        <p:nvSpPr>
          <p:cNvPr id="8" name="Shape 5"/>
          <p:cNvSpPr/>
          <p:nvPr/>
        </p:nvSpPr>
        <p:spPr>
          <a:xfrm>
            <a:off x="457200" y="1627632"/>
            <a:ext cx="1828800" cy="960120"/>
          </a:xfrm>
          <a:prstGeom prst="rect">
            <a:avLst/>
          </a:prstGeom>
          <a:solidFill>
            <a:srgbClr val="EEEFE7"/>
          </a:solidFill>
          <a:ln w="12700">
            <a:solidFill>
              <a:srgbClr val="EEEFE7"/>
            </a:solidFill>
            <a:prstDash val="solid"/>
          </a:ln>
        </p:spPr>
      </p:sp>
      <p:sp>
        <p:nvSpPr>
          <p:cNvPr id="9" name="Text 6"/>
          <p:cNvSpPr txBox="1"/>
          <p:nvPr/>
        </p:nvSpPr>
        <p:spPr>
          <a:xfrm>
            <a:off x="457200" y="1627632"/>
            <a:ext cx="1828800" cy="960120"/>
          </a:xfrm>
          <a:prstGeom prst="rect">
            <a:avLst/>
          </a:prstGeom>
          <a:noFill/>
          <a:ln/>
        </p:spPr>
        <p:txBody>
          <a:bodyPr wrap="square" lIns="63500" tIns="63500" rIns="63500" bIns="63500" rtlCol="0" anchor="ctr"/>
          <a:lstStyle/>
          <a:p>
            <a:pPr marL="0" indent="0" algn="ctr">
              <a:buNone/>
            </a:pPr>
            <a:endParaRPr lang="en-US" sz="1300" dirty="0"/>
          </a:p>
        </p:txBody>
      </p:sp>
      <p:sp>
        <p:nvSpPr>
          <p:cNvPr id="10" name="Text 7"/>
          <p:cNvSpPr txBox="1"/>
          <p:nvPr/>
        </p:nvSpPr>
        <p:spPr>
          <a:xfrm>
            <a:off x="548640" y="1682496"/>
            <a:ext cx="1645920" cy="256032"/>
          </a:xfrm>
          <a:prstGeom prst="rect">
            <a:avLst/>
          </a:prstGeom>
          <a:noFill/>
          <a:ln/>
        </p:spPr>
        <p:txBody>
          <a:bodyPr wrap="square" lIns="0" tIns="0" rIns="0" bIns="0" rtlCol="0" anchor="t"/>
          <a:lstStyle/>
          <a:p>
            <a:pPr marL="0" indent="0">
              <a:buNone/>
            </a:pPr>
            <a:r>
              <a:rPr lang="en-US" sz="1300" b="1" dirty="0">
                <a:solidFill>
                  <a:srgbClr val="1E5A40"/>
                </a:solidFill>
                <a:latin typeface="Calibri" pitchFamily="34" charset="0"/>
                <a:ea typeface="Calibri" pitchFamily="34" charset="-122"/>
                <a:cs typeface="Calibri" pitchFamily="34" charset="-120"/>
              </a:rPr>
              <a:t>Install tools</a:t>
            </a:r>
            <a:endParaRPr lang="en-US" sz="1300" dirty="0"/>
          </a:p>
        </p:txBody>
      </p:sp>
      <p:sp>
        <p:nvSpPr>
          <p:cNvPr id="11" name="Text 8"/>
          <p:cNvSpPr txBox="1"/>
          <p:nvPr/>
        </p:nvSpPr>
        <p:spPr>
          <a:xfrm>
            <a:off x="548640" y="1965960"/>
            <a:ext cx="1645920" cy="59436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Node 22+, pnpm 10, Python 3.11+, Poetry 2.1+ and the LangGraph CLI</a:t>
            </a:r>
            <a:endParaRPr lang="en-US" sz="1150" dirty="0"/>
          </a:p>
        </p:txBody>
      </p:sp>
      <p:sp>
        <p:nvSpPr>
          <p:cNvPr id="12" name="Shape 9"/>
          <p:cNvSpPr/>
          <p:nvPr/>
        </p:nvSpPr>
        <p:spPr>
          <a:xfrm>
            <a:off x="2304288" y="2103120"/>
            <a:ext cx="237744" cy="0"/>
          </a:xfrm>
          <a:prstGeom prst="line">
            <a:avLst/>
          </a:prstGeom>
          <a:noFill/>
          <a:ln w="19050">
            <a:solidFill>
              <a:srgbClr val="5C6B62"/>
            </a:solidFill>
            <a:prstDash val="solid"/>
            <a:tailEnd type="triangle"/>
          </a:ln>
        </p:spPr>
      </p:sp>
      <p:sp>
        <p:nvSpPr>
          <p:cNvPr id="13" name="Shape 10"/>
          <p:cNvSpPr/>
          <p:nvPr/>
        </p:nvSpPr>
        <p:spPr>
          <a:xfrm>
            <a:off x="2560320" y="1627632"/>
            <a:ext cx="1828800" cy="960120"/>
          </a:xfrm>
          <a:prstGeom prst="rect">
            <a:avLst/>
          </a:prstGeom>
          <a:solidFill>
            <a:srgbClr val="EEEFE7"/>
          </a:solidFill>
          <a:ln w="12700">
            <a:solidFill>
              <a:srgbClr val="EEEFE7"/>
            </a:solidFill>
            <a:prstDash val="solid"/>
          </a:ln>
        </p:spPr>
      </p:sp>
      <p:sp>
        <p:nvSpPr>
          <p:cNvPr id="14" name="Text 11"/>
          <p:cNvSpPr txBox="1"/>
          <p:nvPr/>
        </p:nvSpPr>
        <p:spPr>
          <a:xfrm>
            <a:off x="2560320" y="1627632"/>
            <a:ext cx="1828800" cy="960120"/>
          </a:xfrm>
          <a:prstGeom prst="rect">
            <a:avLst/>
          </a:prstGeom>
          <a:noFill/>
          <a:ln/>
        </p:spPr>
        <p:txBody>
          <a:bodyPr wrap="square" lIns="63500" tIns="63500" rIns="63500" bIns="63500" rtlCol="0" anchor="ctr"/>
          <a:lstStyle/>
          <a:p>
            <a:pPr marL="0" indent="0" algn="ctr">
              <a:buNone/>
            </a:pPr>
            <a:endParaRPr lang="en-US" sz="1300" dirty="0"/>
          </a:p>
        </p:txBody>
      </p:sp>
      <p:sp>
        <p:nvSpPr>
          <p:cNvPr id="15" name="Text 12"/>
          <p:cNvSpPr txBox="1"/>
          <p:nvPr/>
        </p:nvSpPr>
        <p:spPr>
          <a:xfrm>
            <a:off x="2651760" y="1682496"/>
            <a:ext cx="1645920" cy="256032"/>
          </a:xfrm>
          <a:prstGeom prst="rect">
            <a:avLst/>
          </a:prstGeom>
          <a:noFill/>
          <a:ln/>
        </p:spPr>
        <p:txBody>
          <a:bodyPr wrap="square" lIns="0" tIns="0" rIns="0" bIns="0" rtlCol="0" anchor="t"/>
          <a:lstStyle/>
          <a:p>
            <a:pPr marL="0" indent="0">
              <a:buNone/>
            </a:pPr>
            <a:r>
              <a:rPr lang="en-US" sz="1300" b="1" dirty="0">
                <a:solidFill>
                  <a:srgbClr val="1E5A40"/>
                </a:solidFill>
                <a:latin typeface="Calibri" pitchFamily="34" charset="0"/>
                <a:ea typeface="Calibri" pitchFamily="34" charset="-122"/>
                <a:cs typeface="Calibri" pitchFamily="34" charset="-120"/>
              </a:rPr>
              <a:t>Add API keys</a:t>
            </a:r>
            <a:endParaRPr lang="en-US" sz="1300" dirty="0"/>
          </a:p>
        </p:txBody>
      </p:sp>
      <p:sp>
        <p:nvSpPr>
          <p:cNvPr id="16" name="Text 13"/>
          <p:cNvSpPr txBox="1"/>
          <p:nvPr/>
        </p:nvSpPr>
        <p:spPr>
          <a:xfrm>
            <a:off x="2651760" y="1965960"/>
            <a:ext cx="1645920" cy="59436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Copy .env.example to .env and add OPENAI_API_KEY and TAVILY_API_KEY</a:t>
            </a:r>
            <a:endParaRPr lang="en-US" sz="1150" dirty="0"/>
          </a:p>
        </p:txBody>
      </p:sp>
      <p:sp>
        <p:nvSpPr>
          <p:cNvPr id="17" name="Shape 14"/>
          <p:cNvSpPr/>
          <p:nvPr/>
        </p:nvSpPr>
        <p:spPr>
          <a:xfrm>
            <a:off x="4407408" y="2103120"/>
            <a:ext cx="237744" cy="0"/>
          </a:xfrm>
          <a:prstGeom prst="line">
            <a:avLst/>
          </a:prstGeom>
          <a:noFill/>
          <a:ln w="19050">
            <a:solidFill>
              <a:srgbClr val="5C6B62"/>
            </a:solidFill>
            <a:prstDash val="solid"/>
            <a:tailEnd type="triangle"/>
          </a:ln>
        </p:spPr>
      </p:sp>
      <p:sp>
        <p:nvSpPr>
          <p:cNvPr id="18" name="Shape 15"/>
          <p:cNvSpPr/>
          <p:nvPr/>
        </p:nvSpPr>
        <p:spPr>
          <a:xfrm>
            <a:off x="4663440" y="1627632"/>
            <a:ext cx="1828800" cy="960120"/>
          </a:xfrm>
          <a:prstGeom prst="rect">
            <a:avLst/>
          </a:prstGeom>
          <a:solidFill>
            <a:srgbClr val="EEEFE7"/>
          </a:solidFill>
          <a:ln w="12700">
            <a:solidFill>
              <a:srgbClr val="EEEFE7"/>
            </a:solidFill>
            <a:prstDash val="solid"/>
          </a:ln>
        </p:spPr>
      </p:sp>
      <p:sp>
        <p:nvSpPr>
          <p:cNvPr id="19" name="Text 16"/>
          <p:cNvSpPr txBox="1"/>
          <p:nvPr/>
        </p:nvSpPr>
        <p:spPr>
          <a:xfrm>
            <a:off x="4663440" y="1627632"/>
            <a:ext cx="1828800" cy="960120"/>
          </a:xfrm>
          <a:prstGeom prst="rect">
            <a:avLst/>
          </a:prstGeom>
          <a:noFill/>
          <a:ln/>
        </p:spPr>
        <p:txBody>
          <a:bodyPr wrap="square" lIns="63500" tIns="63500" rIns="63500" bIns="63500" rtlCol="0" anchor="ctr"/>
          <a:lstStyle/>
          <a:p>
            <a:pPr marL="0" indent="0" algn="ctr">
              <a:buNone/>
            </a:pPr>
            <a:endParaRPr lang="en-US" sz="1300" dirty="0"/>
          </a:p>
        </p:txBody>
      </p:sp>
      <p:sp>
        <p:nvSpPr>
          <p:cNvPr id="20" name="Text 17"/>
          <p:cNvSpPr txBox="1"/>
          <p:nvPr/>
        </p:nvSpPr>
        <p:spPr>
          <a:xfrm>
            <a:off x="4754880" y="1682496"/>
            <a:ext cx="1645920" cy="256032"/>
          </a:xfrm>
          <a:prstGeom prst="rect">
            <a:avLst/>
          </a:prstGeom>
          <a:noFill/>
          <a:ln/>
        </p:spPr>
        <p:txBody>
          <a:bodyPr wrap="square" lIns="0" tIns="0" rIns="0" bIns="0" rtlCol="0" anchor="t"/>
          <a:lstStyle/>
          <a:p>
            <a:pPr marL="0" indent="0">
              <a:buNone/>
            </a:pPr>
            <a:r>
              <a:rPr lang="en-US" sz="1300" b="1" dirty="0">
                <a:solidFill>
                  <a:srgbClr val="1E5A40"/>
                </a:solidFill>
                <a:latin typeface="Calibri" pitchFamily="34" charset="0"/>
                <a:ea typeface="Calibri" pitchFamily="34" charset="-122"/>
                <a:cs typeface="Calibri" pitchFamily="34" charset="-120"/>
              </a:rPr>
              <a:t>pnpm setup:dev</a:t>
            </a:r>
            <a:endParaRPr lang="en-US" sz="1300" dirty="0"/>
          </a:p>
        </p:txBody>
      </p:sp>
      <p:sp>
        <p:nvSpPr>
          <p:cNvPr id="21" name="Text 18"/>
          <p:cNvSpPr txBox="1"/>
          <p:nvPr/>
        </p:nvSpPr>
        <p:spPr>
          <a:xfrm>
            <a:off x="4754880" y="1965960"/>
            <a:ext cx="1645920" cy="59436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Installs the web (pnpm) and Python (Poetry) packages in one command</a:t>
            </a:r>
            <a:endParaRPr lang="en-US" sz="1150" dirty="0"/>
          </a:p>
        </p:txBody>
      </p:sp>
      <p:sp>
        <p:nvSpPr>
          <p:cNvPr id="22" name="Shape 19"/>
          <p:cNvSpPr/>
          <p:nvPr/>
        </p:nvSpPr>
        <p:spPr>
          <a:xfrm>
            <a:off x="6510528" y="2103120"/>
            <a:ext cx="237744" cy="0"/>
          </a:xfrm>
          <a:prstGeom prst="line">
            <a:avLst/>
          </a:prstGeom>
          <a:noFill/>
          <a:ln w="19050">
            <a:solidFill>
              <a:srgbClr val="5C6B62"/>
            </a:solidFill>
            <a:prstDash val="solid"/>
            <a:tailEnd type="triangle"/>
          </a:ln>
        </p:spPr>
      </p:sp>
      <p:sp>
        <p:nvSpPr>
          <p:cNvPr id="23" name="Shape 20"/>
          <p:cNvSpPr/>
          <p:nvPr/>
        </p:nvSpPr>
        <p:spPr>
          <a:xfrm>
            <a:off x="6766560" y="1627632"/>
            <a:ext cx="1828800" cy="960120"/>
          </a:xfrm>
          <a:prstGeom prst="rect">
            <a:avLst/>
          </a:prstGeom>
          <a:solidFill>
            <a:srgbClr val="EEEFE7"/>
          </a:solidFill>
          <a:ln w="12700">
            <a:solidFill>
              <a:srgbClr val="EEEFE7"/>
            </a:solidFill>
            <a:prstDash val="solid"/>
          </a:ln>
        </p:spPr>
      </p:sp>
      <p:sp>
        <p:nvSpPr>
          <p:cNvPr id="24" name="Text 21"/>
          <p:cNvSpPr txBox="1"/>
          <p:nvPr/>
        </p:nvSpPr>
        <p:spPr>
          <a:xfrm>
            <a:off x="6766560" y="1627632"/>
            <a:ext cx="1828800" cy="960120"/>
          </a:xfrm>
          <a:prstGeom prst="rect">
            <a:avLst/>
          </a:prstGeom>
          <a:noFill/>
          <a:ln/>
        </p:spPr>
        <p:txBody>
          <a:bodyPr wrap="square" lIns="63500" tIns="63500" rIns="63500" bIns="63500" rtlCol="0" anchor="ctr"/>
          <a:lstStyle/>
          <a:p>
            <a:pPr marL="0" indent="0" algn="ctr">
              <a:buNone/>
            </a:pPr>
            <a:endParaRPr lang="en-US" sz="1300" dirty="0"/>
          </a:p>
        </p:txBody>
      </p:sp>
      <p:sp>
        <p:nvSpPr>
          <p:cNvPr id="25" name="Text 22"/>
          <p:cNvSpPr txBox="1"/>
          <p:nvPr/>
        </p:nvSpPr>
        <p:spPr>
          <a:xfrm>
            <a:off x="6858000" y="1682496"/>
            <a:ext cx="1645920" cy="256032"/>
          </a:xfrm>
          <a:prstGeom prst="rect">
            <a:avLst/>
          </a:prstGeom>
          <a:noFill/>
          <a:ln/>
        </p:spPr>
        <p:txBody>
          <a:bodyPr wrap="square" lIns="0" tIns="0" rIns="0" bIns="0" rtlCol="0" anchor="t"/>
          <a:lstStyle/>
          <a:p>
            <a:pPr marL="0" indent="0">
              <a:buNone/>
            </a:pPr>
            <a:r>
              <a:rPr lang="en-US" sz="1300" b="1" dirty="0">
                <a:solidFill>
                  <a:srgbClr val="1E5A40"/>
                </a:solidFill>
                <a:latin typeface="Calibri" pitchFamily="34" charset="0"/>
                <a:ea typeface="Calibri" pitchFamily="34" charset="-122"/>
                <a:cs typeface="Calibri" pitchFamily="34" charset="-120"/>
              </a:rPr>
              <a:t>pnpm dev</a:t>
            </a:r>
            <a:endParaRPr lang="en-US" sz="1300" dirty="0"/>
          </a:p>
        </p:txBody>
      </p:sp>
      <p:sp>
        <p:nvSpPr>
          <p:cNvPr id="26" name="Text 23"/>
          <p:cNvSpPr txBox="1"/>
          <p:nvPr/>
        </p:nvSpPr>
        <p:spPr>
          <a:xfrm>
            <a:off x="6858000" y="1965960"/>
            <a:ext cx="1645920" cy="594360"/>
          </a:xfrm>
          <a:prstGeom prst="rect">
            <a:avLst/>
          </a:prstGeom>
          <a:noFill/>
          <a:ln/>
        </p:spPr>
        <p:txBody>
          <a:bodyPr wrap="square" lIns="0" tIns="0" rIns="0" bIns="0" rtlCol="0" anchor="t"/>
          <a:lstStyle/>
          <a:p>
            <a:pPr marL="0" indent="0">
              <a:buNone/>
            </a:pPr>
            <a:r>
              <a:rPr lang="en-US" sz="1150" dirty="0">
                <a:solidFill>
                  <a:srgbClr val="12291F"/>
                </a:solidFill>
                <a:latin typeface="Calibri" pitchFamily="34" charset="0"/>
                <a:ea typeface="Calibri" pitchFamily="34" charset="-122"/>
                <a:cs typeface="Calibri" pitchFamily="34" charset="-120"/>
              </a:rPr>
              <a:t>Starts the web app and the agents; open localhost:3000</a:t>
            </a:r>
            <a:endParaRPr lang="en-US" sz="1150" dirty="0"/>
          </a:p>
        </p:txBody>
      </p:sp>
      <p:sp>
        <p:nvSpPr>
          <p:cNvPr id="27" name="Shape 24"/>
          <p:cNvSpPr/>
          <p:nvPr/>
        </p:nvSpPr>
        <p:spPr>
          <a:xfrm>
            <a:off x="1188720" y="3090672"/>
            <a:ext cx="6766560" cy="0"/>
          </a:xfrm>
          <a:prstGeom prst="line">
            <a:avLst/>
          </a:prstGeom>
          <a:noFill/>
          <a:ln w="25400">
            <a:solidFill>
              <a:srgbClr val="B9C2BB"/>
            </a:solidFill>
            <a:prstDash val="solid"/>
          </a:ln>
        </p:spPr>
      </p:sp>
      <p:sp>
        <p:nvSpPr>
          <p:cNvPr id="28" name="Shape 25"/>
          <p:cNvSpPr/>
          <p:nvPr/>
        </p:nvSpPr>
        <p:spPr>
          <a:xfrm>
            <a:off x="1554480" y="2880360"/>
            <a:ext cx="411480" cy="411480"/>
          </a:xfrm>
          <a:prstGeom prst="ellipse">
            <a:avLst/>
          </a:prstGeom>
          <a:solidFill>
            <a:srgbClr val="1E5A40"/>
          </a:solidFill>
          <a:ln w="12700">
            <a:solidFill>
              <a:srgbClr val="1E5A40"/>
            </a:solidFill>
            <a:prstDash val="solid"/>
          </a:ln>
        </p:spPr>
      </p:sp>
      <p:sp>
        <p:nvSpPr>
          <p:cNvPr id="29" name="Text 26"/>
          <p:cNvSpPr txBox="1"/>
          <p:nvPr/>
        </p:nvSpPr>
        <p:spPr>
          <a:xfrm>
            <a:off x="1554480" y="28803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30" name="Text 27"/>
          <p:cNvSpPr txBox="1"/>
          <p:nvPr/>
        </p:nvSpPr>
        <p:spPr>
          <a:xfrm>
            <a:off x="457200" y="3401568"/>
            <a:ext cx="2651760" cy="256032"/>
          </a:xfrm>
          <a:prstGeom prst="rect">
            <a:avLst/>
          </a:prstGeom>
          <a:noFill/>
          <a:ln/>
        </p:spPr>
        <p:txBody>
          <a:bodyPr wrap="square" lIns="0" tIns="0" rIns="0" bIns="0" rtlCol="0" anchor="t"/>
          <a:lstStyle/>
          <a:p>
            <a:pPr marL="0" indent="0" algn="ctr">
              <a:buNone/>
            </a:pPr>
            <a:r>
              <a:rPr lang="en-US" sz="1300" b="1" dirty="0">
                <a:solidFill>
                  <a:srgbClr val="12291F"/>
                </a:solidFill>
                <a:latin typeface="Calibri" pitchFamily="34" charset="0"/>
                <a:ea typeface="Calibri" pitchFamily="34" charset="-122"/>
                <a:cs typeface="Calibri" pitchFamily="34" charset="-120"/>
              </a:rPr>
              <a:t>NOW  ·  Feasible today</a:t>
            </a:r>
            <a:endParaRPr lang="en-US" sz="1300" dirty="0"/>
          </a:p>
        </p:txBody>
      </p:sp>
      <p:sp>
        <p:nvSpPr>
          <p:cNvPr id="31" name="Text 28"/>
          <p:cNvSpPr txBox="1"/>
          <p:nvPr/>
        </p:nvSpPr>
        <p:spPr>
          <a:xfrm>
            <a:off x="640080" y="3675888"/>
            <a:ext cx="2468880" cy="731520"/>
          </a:xfrm>
          <a:prstGeom prst="rect">
            <a:avLst/>
          </a:prstGeom>
          <a:noFill/>
          <a:ln/>
        </p:spPr>
        <p:txBody>
          <a:bodyPr wrap="square" lIns="0" tIns="0" rIns="0" bIns="0" rtlCol="0" anchor="t"/>
          <a:lstStyle/>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Local full-stack demo</a:t>
            </a:r>
            <a:endParaRPr lang="en-US" sz="1150" dirty="0"/>
          </a:p>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Web interface + agent workflow</a:t>
            </a:r>
            <a:endParaRPr lang="en-US" sz="1150" dirty="0"/>
          </a:p>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Open source (MIT)</a:t>
            </a:r>
            <a:endParaRPr lang="en-US" sz="1150" dirty="0"/>
          </a:p>
        </p:txBody>
      </p:sp>
      <p:sp>
        <p:nvSpPr>
          <p:cNvPr id="32" name="Shape 29"/>
          <p:cNvSpPr/>
          <p:nvPr/>
        </p:nvSpPr>
        <p:spPr>
          <a:xfrm>
            <a:off x="4343400" y="2880360"/>
            <a:ext cx="411480" cy="411480"/>
          </a:xfrm>
          <a:prstGeom prst="ellipse">
            <a:avLst/>
          </a:prstGeom>
          <a:solidFill>
            <a:srgbClr val="1E5A40"/>
          </a:solidFill>
          <a:ln w="12700">
            <a:solidFill>
              <a:srgbClr val="1E5A40"/>
            </a:solidFill>
            <a:prstDash val="solid"/>
          </a:ln>
        </p:spPr>
      </p:sp>
      <p:sp>
        <p:nvSpPr>
          <p:cNvPr id="33" name="Text 30"/>
          <p:cNvSpPr txBox="1"/>
          <p:nvPr/>
        </p:nvSpPr>
        <p:spPr>
          <a:xfrm>
            <a:off x="4343400" y="28803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34" name="Text 31"/>
          <p:cNvSpPr txBox="1"/>
          <p:nvPr/>
        </p:nvSpPr>
        <p:spPr>
          <a:xfrm>
            <a:off x="3246120" y="3401568"/>
            <a:ext cx="2651760" cy="256032"/>
          </a:xfrm>
          <a:prstGeom prst="rect">
            <a:avLst/>
          </a:prstGeom>
          <a:noFill/>
          <a:ln/>
        </p:spPr>
        <p:txBody>
          <a:bodyPr wrap="square" lIns="0" tIns="0" rIns="0" bIns="0" rtlCol="0" anchor="t"/>
          <a:lstStyle/>
          <a:p>
            <a:pPr marL="0" indent="0" algn="ctr">
              <a:buNone/>
            </a:pPr>
            <a:r>
              <a:rPr lang="en-US" sz="1300" b="1" dirty="0">
                <a:solidFill>
                  <a:srgbClr val="12291F"/>
                </a:solidFill>
                <a:latin typeface="Calibri" pitchFamily="34" charset="0"/>
                <a:ea typeface="Calibri" pitchFamily="34" charset="-122"/>
                <a:cs typeface="Calibri" pitchFamily="34" charset="-120"/>
              </a:rPr>
              <a:t>NEXT  ·  Evaluation agent</a:t>
            </a:r>
            <a:endParaRPr lang="en-US" sz="1300" dirty="0"/>
          </a:p>
        </p:txBody>
      </p:sp>
      <p:sp>
        <p:nvSpPr>
          <p:cNvPr id="35" name="Text 32"/>
          <p:cNvSpPr txBox="1"/>
          <p:nvPr/>
        </p:nvSpPr>
        <p:spPr>
          <a:xfrm>
            <a:off x="3429000" y="3675888"/>
            <a:ext cx="2468880" cy="731520"/>
          </a:xfrm>
          <a:prstGeom prst="rect">
            <a:avLst/>
          </a:prstGeom>
          <a:noFill/>
          <a:ln/>
        </p:spPr>
        <p:txBody>
          <a:bodyPr wrap="square" lIns="0" tIns="0" rIns="0" bIns="0" rtlCol="0" anchor="t"/>
          <a:lstStyle/>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Evaluation agent for overall performance</a:t>
            </a:r>
            <a:endParaRPr lang="en-US" sz="1150" dirty="0"/>
          </a:p>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Accuracy and reliability metrics</a:t>
            </a:r>
            <a:endParaRPr lang="en-US" sz="1150" dirty="0"/>
          </a:p>
        </p:txBody>
      </p:sp>
      <p:sp>
        <p:nvSpPr>
          <p:cNvPr id="36" name="Shape 33"/>
          <p:cNvSpPr/>
          <p:nvPr/>
        </p:nvSpPr>
        <p:spPr>
          <a:xfrm>
            <a:off x="7132320" y="2880360"/>
            <a:ext cx="411480" cy="411480"/>
          </a:xfrm>
          <a:prstGeom prst="ellipse">
            <a:avLst/>
          </a:prstGeom>
          <a:solidFill>
            <a:srgbClr val="1E5A40"/>
          </a:solidFill>
          <a:ln w="12700">
            <a:solidFill>
              <a:srgbClr val="1E5A40"/>
            </a:solidFill>
            <a:prstDash val="solid"/>
          </a:ln>
        </p:spPr>
      </p:sp>
      <p:sp>
        <p:nvSpPr>
          <p:cNvPr id="37" name="Text 34"/>
          <p:cNvSpPr txBox="1"/>
          <p:nvPr/>
        </p:nvSpPr>
        <p:spPr>
          <a:xfrm>
            <a:off x="7132320" y="2880360"/>
            <a:ext cx="411480" cy="41148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38" name="Text 35"/>
          <p:cNvSpPr txBox="1"/>
          <p:nvPr/>
        </p:nvSpPr>
        <p:spPr>
          <a:xfrm>
            <a:off x="6035040" y="3401568"/>
            <a:ext cx="2651760" cy="256032"/>
          </a:xfrm>
          <a:prstGeom prst="rect">
            <a:avLst/>
          </a:prstGeom>
          <a:noFill/>
          <a:ln/>
        </p:spPr>
        <p:txBody>
          <a:bodyPr wrap="square" lIns="0" tIns="0" rIns="0" bIns="0" rtlCol="0" anchor="t"/>
          <a:lstStyle/>
          <a:p>
            <a:pPr marL="0" indent="0" algn="ctr">
              <a:buNone/>
            </a:pPr>
            <a:r>
              <a:rPr lang="en-US" sz="1300" b="1" dirty="0">
                <a:solidFill>
                  <a:srgbClr val="12291F"/>
                </a:solidFill>
                <a:latin typeface="Calibri" pitchFamily="34" charset="0"/>
                <a:ea typeface="Calibri" pitchFamily="34" charset="-122"/>
                <a:cs typeface="Calibri" pitchFamily="34" charset="-120"/>
              </a:rPr>
              <a:t>LATER  ·  Public API service</a:t>
            </a:r>
            <a:endParaRPr lang="en-US" sz="1300" dirty="0"/>
          </a:p>
        </p:txBody>
      </p:sp>
      <p:sp>
        <p:nvSpPr>
          <p:cNvPr id="39" name="Text 36"/>
          <p:cNvSpPr txBox="1"/>
          <p:nvPr/>
        </p:nvSpPr>
        <p:spPr>
          <a:xfrm>
            <a:off x="6217920" y="3675888"/>
            <a:ext cx="2468880" cy="731520"/>
          </a:xfrm>
          <a:prstGeom prst="rect">
            <a:avLst/>
          </a:prstGeom>
          <a:noFill/>
          <a:ln/>
        </p:spPr>
        <p:txBody>
          <a:bodyPr wrap="square" lIns="0" tIns="0" rIns="0" bIns="0" rtlCol="0" anchor="t"/>
          <a:lstStyle/>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Public API for other apps, no local setup needed</a:t>
            </a:r>
            <a:endParaRPr lang="en-US" sz="1150" dirty="0"/>
          </a:p>
          <a:p>
            <a:pPr marL="342900" indent="-342900">
              <a:buSzPct val="100000"/>
              <a:buChar char="•"/>
            </a:pPr>
            <a:r>
              <a:rPr lang="en-US" sz="1150" dirty="0">
                <a:solidFill>
                  <a:srgbClr val="12291F"/>
                </a:solidFill>
                <a:latin typeface="Calibri" pitchFamily="34" charset="0"/>
                <a:ea typeface="Calibri" pitchFamily="34" charset="-122"/>
                <a:cs typeface="Calibri" pitchFamily="34" charset="-120"/>
              </a:rPr>
              <a:t>Robust hosted service</a:t>
            </a:r>
            <a:endParaRPr lang="en-US" sz="1150" dirty="0"/>
          </a:p>
        </p:txBody>
      </p:sp>
      <p:sp>
        <p:nvSpPr>
          <p:cNvPr id="40" name="Text 37"/>
          <p:cNvSpPr txBox="1"/>
          <p:nvPr/>
        </p:nvSpPr>
        <p:spPr>
          <a:xfrm>
            <a:off x="457200" y="4434840"/>
            <a:ext cx="8229600" cy="274320"/>
          </a:xfrm>
          <a:prstGeom prst="rect">
            <a:avLst/>
          </a:prstGeom>
          <a:noFill/>
          <a:ln/>
        </p:spPr>
        <p:txBody>
          <a:bodyPr wrap="square" lIns="0" tIns="0" rIns="0" bIns="0" rtlCol="0" anchor="t"/>
          <a:lstStyle/>
          <a:p>
            <a:pPr marL="0" indent="0">
              <a:buNone/>
            </a:pPr>
            <a:r>
              <a:rPr lang="en-US" sz="1150" dirty="0">
                <a:solidFill>
                  <a:srgbClr val="5C6B62"/>
                </a:solidFill>
                <a:latin typeface="Calibri" pitchFamily="34" charset="0"/>
                <a:ea typeface="Calibri" pitchFamily="34" charset="-122"/>
                <a:cs typeface="Calibri" pitchFamily="34" charset="-120"/>
              </a:rPr>
              <a:t>Research basis: Claimify (Metropolitansky &amp; Larson, 2025) for claim extraction and SAFE (Wei et al., 2024) for evidence retrieval.</a:t>
            </a:r>
            <a:endParaRPr lang="en-US" sz="1150" dirty="0"/>
          </a:p>
        </p:txBody>
      </p:sp>
    </p:spTree>
  </p:cSld>
  <p:clrMapOvr>
    <a:masterClrMapping/>
  </p:clrMapOvr>
</p:sld>
</file>

<file path=ppt/theme/theme1.xml><?xml version="1.0" encoding="utf-8"?>
<a:theme xmlns:a="http://schemas.openxmlformats.org/drawingml/2006/main" name="Slice">
  <a:themeElements>
    <a:clrScheme name="Slice">
      <a:dk1>
        <a:sysClr val="windowText" lastClr="000000"/>
      </a:dk1>
      <a:lt1>
        <a:sysClr val="window" lastClr="FFFFFF"/>
      </a:lt1>
      <a:dk2>
        <a:srgbClr val="146194"/>
      </a:dk2>
      <a:lt2>
        <a:srgbClr val="76DBF4"/>
      </a:lt2>
      <a:accent1>
        <a:srgbClr val="052F61"/>
      </a:accent1>
      <a:accent2>
        <a:srgbClr val="A50E82"/>
      </a:accent2>
      <a:accent3>
        <a:srgbClr val="14967C"/>
      </a:accent3>
      <a:accent4>
        <a:srgbClr val="6A9E1F"/>
      </a:accent4>
      <a:accent5>
        <a:srgbClr val="E87D37"/>
      </a:accent5>
      <a:accent6>
        <a:srgbClr val="C62324"/>
      </a:accent6>
      <a:hlink>
        <a:srgbClr val="0D2E46"/>
      </a:hlink>
      <a:folHlink>
        <a:srgbClr val="356A95"/>
      </a:folHlink>
    </a:clrScheme>
    <a:fontScheme name="Slice">
      <a:maj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メイリオ"/>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Slice">
      <a:fillStyleLst>
        <a:solidFill>
          <a:schemeClr val="phClr"/>
        </a:solidFill>
        <a:gradFill rotWithShape="1">
          <a:gsLst>
            <a:gs pos="0">
              <a:schemeClr val="phClr">
                <a:tint val="62000"/>
                <a:hueMod val="94000"/>
                <a:satMod val="140000"/>
                <a:lumMod val="110000"/>
              </a:schemeClr>
            </a:gs>
            <a:gs pos="100000">
              <a:schemeClr val="phClr">
                <a:tint val="84000"/>
                <a:satMod val="160000"/>
              </a:schemeClr>
            </a:gs>
          </a:gsLst>
          <a:lin ang="5400000" scaled="0"/>
        </a:gradFill>
        <a:gradFill rotWithShape="1">
          <a:gsLst>
            <a:gs pos="0">
              <a:schemeClr val="phClr">
                <a:tint val="98000"/>
                <a:hueMod val="94000"/>
                <a:satMod val="130000"/>
                <a:lumMod val="128000"/>
              </a:schemeClr>
            </a:gs>
            <a:gs pos="100000">
              <a:schemeClr val="phClr">
                <a:shade val="94000"/>
                <a:lumMod val="88000"/>
              </a:schemeClr>
            </a:gs>
          </a:gsLst>
          <a:lin ang="5400000" scaled="0"/>
        </a:gradFill>
      </a:fillStyleLst>
      <a:lnStyleLst>
        <a:ln w="9525" cap="rnd" cmpd="sng" algn="ctr">
          <a:solidFill>
            <a:schemeClr val="phClr">
              <a:tint val="76000"/>
              <a:alpha val="60000"/>
              <a:hueMod val="94000"/>
            </a:schemeClr>
          </a:solidFill>
          <a:prstDash val="solid"/>
        </a:ln>
        <a:ln w="15875" cap="rnd" cmpd="sng" algn="ctr">
          <a:solidFill>
            <a:schemeClr val="phClr">
              <a:hueMod val="94000"/>
            </a:schemeClr>
          </a:solidFill>
          <a:prstDash val="solid"/>
        </a:ln>
        <a:ln w="28575" cap="rnd"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50800" dist="38100" dir="5400000" rotWithShape="0">
              <a:srgbClr val="000000">
                <a:alpha val="46000"/>
              </a:srgbClr>
            </a:outerShdw>
          </a:effectLst>
          <a:scene3d>
            <a:camera prst="orthographicFront">
              <a:rot lat="0" lon="0" rev="0"/>
            </a:camera>
            <a:lightRig rig="threePt" dir="t"/>
          </a:scene3d>
          <a:sp3d prstMaterial="plastic">
            <a:bevelT w="25400" h="25400"/>
          </a:sp3d>
        </a:effectStyle>
      </a:effectStyleLst>
      <a:bgFillStyleLst>
        <a:solidFill>
          <a:schemeClr val="phClr"/>
        </a:solidFill>
        <a:gradFill rotWithShape="1">
          <a:gsLst>
            <a:gs pos="10000">
              <a:schemeClr val="phClr">
                <a:tint val="97000"/>
                <a:hueMod val="92000"/>
                <a:satMod val="169000"/>
                <a:lumMod val="164000"/>
              </a:schemeClr>
            </a:gs>
            <a:gs pos="100000">
              <a:schemeClr val="phClr">
                <a:shade val="96000"/>
                <a:satMod val="120000"/>
                <a:lumMod val="90000"/>
              </a:schemeClr>
            </a:gs>
          </a:gsLst>
          <a:lin ang="6120000" scaled="1"/>
        </a:gradFill>
        <a:gradFill rotWithShape="1">
          <a:gsLst>
            <a:gs pos="0">
              <a:schemeClr val="phClr">
                <a:tint val="97000"/>
                <a:hueMod val="92000"/>
                <a:satMod val="169000"/>
                <a:lumMod val="164000"/>
              </a:schemeClr>
            </a:gs>
            <a:gs pos="100000">
              <a:schemeClr val="phClr">
                <a:shade val="96000"/>
                <a:satMod val="120000"/>
                <a:lumMod val="90000"/>
              </a:schemeClr>
            </a:gs>
          </a:gsLst>
          <a:path path="circle">
            <a:fillToRect b="100000"/>
          </a:path>
        </a:gradFill>
      </a:bgFillStyleLst>
    </a:fmtScheme>
  </a:themeElements>
  <a:objectDefaults/>
  <a:extraClrSchemeLst/>
  <a:extLst>
    <a:ext uri="{05A4C25C-085E-4340-85A3-A5531E510DB2}">
      <thm15:themeFamily xmlns:thm15="http://schemas.microsoft.com/office/thememl/2012/main" name="Slice" id="{0507925B-6AC9-4358-8E18-C330545D08F8}" vid="{13FEC7C6-62A9-40C4-99D2-581AACACAA2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Slice</Template>
  <TotalTime>96</TotalTime>
  <Words>1750</Words>
  <Application>Microsoft Office PowerPoint</Application>
  <PresentationFormat>On-screen Show (16:9)</PresentationFormat>
  <Paragraphs>163</Paragraphs>
  <Slides>10</Slides>
  <Notes>10</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10</vt:i4>
      </vt:variant>
    </vt:vector>
  </HeadingPairs>
  <TitlesOfParts>
    <vt:vector size="17" baseType="lpstr">
      <vt:lpstr>Arial</vt:lpstr>
      <vt:lpstr>Calibri</vt:lpstr>
      <vt:lpstr>Cambria</vt:lpstr>
      <vt:lpstr>Century Gothic</vt:lpstr>
      <vt:lpstr>Times New Roman</vt:lpstr>
      <vt:lpstr>Wingdings 3</vt:lpstr>
      <vt:lpstr>Slice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ClaimAI</dc:title>
  <dc:subject>PptxGenJS Presentation</dc:subject>
  <dc:creator>Anurag Kumar</dc:creator>
  <cp:lastModifiedBy>Anurag Kumar</cp:lastModifiedBy>
  <cp:revision>7</cp:revision>
  <dcterms:created xsi:type="dcterms:W3CDTF">2026-10-17T08:04:26Z</dcterms:created>
  <dcterms:modified xsi:type="dcterms:W3CDTF">2026-10-18T04:58:13Z</dcterms:modified>
</cp:coreProperties>
</file>